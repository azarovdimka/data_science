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9" r:id="rId4"/>
    <p:sldId id="266" r:id="rId5"/>
    <p:sldId id="267" r:id="rId6"/>
    <p:sldId id="258" r:id="rId7"/>
    <p:sldId id="269" r:id="rId8"/>
    <p:sldId id="270" r:id="rId9"/>
    <p:sldId id="274" r:id="rId10"/>
    <p:sldId id="268" r:id="rId11"/>
    <p:sldId id="262" r:id="rId12"/>
    <p:sldId id="275" r:id="rId13"/>
    <p:sldId id="263" r:id="rId14"/>
    <p:sldId id="272" r:id="rId15"/>
    <p:sldId id="273" r:id="rId16"/>
    <p:sldId id="271" r:id="rId17"/>
    <p:sldId id="264" r:id="rId18"/>
    <p:sldId id="265" r:id="rId1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10"/>
  </p:normalViewPr>
  <p:slideViewPr>
    <p:cSldViewPr snapToGrid="0" snapToObjects="1">
      <p:cViewPr varScale="1">
        <p:scale>
          <a:sx n="57" d="100"/>
          <a:sy n="57" d="100"/>
        </p:scale>
        <p:origin x="341"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Дмитрий Азаров" userId="acc9383ebd230318" providerId="LiveId" clId="{620E7EB4-24E5-4640-8054-253D3F86E5EC}"/>
    <pc:docChg chg="custSel addSld modSld">
      <pc:chgData name="Дмитрий Азаров" userId="acc9383ebd230318" providerId="LiveId" clId="{620E7EB4-24E5-4640-8054-253D3F86E5EC}" dt="2025-11-19T08:30:38.282" v="66" actId="20577"/>
      <pc:docMkLst>
        <pc:docMk/>
      </pc:docMkLst>
      <pc:sldChg chg="modSp mod">
        <pc:chgData name="Дмитрий Азаров" userId="acc9383ebd230318" providerId="LiveId" clId="{620E7EB4-24E5-4640-8054-253D3F86E5EC}" dt="2025-11-14T09:40:45.382" v="32" actId="20577"/>
        <pc:sldMkLst>
          <pc:docMk/>
          <pc:sldMk cId="0" sldId="258"/>
        </pc:sldMkLst>
        <pc:spChg chg="mod">
          <ac:chgData name="Дмитрий Азаров" userId="acc9383ebd230318" providerId="LiveId" clId="{620E7EB4-24E5-4640-8054-253D3F86E5EC}" dt="2025-11-14T09:40:45.382" v="32" actId="20577"/>
          <ac:spMkLst>
            <pc:docMk/>
            <pc:sldMk cId="0" sldId="258"/>
            <ac:spMk id="7" creationId="{00000000-0000-0000-0000-000000000000}"/>
          </ac:spMkLst>
        </pc:spChg>
      </pc:sldChg>
      <pc:sldChg chg="addSp delSp modSp mod">
        <pc:chgData name="Дмитрий Азаров" userId="acc9383ebd230318" providerId="LiveId" clId="{620E7EB4-24E5-4640-8054-253D3F86E5EC}" dt="2025-11-14T09:42:56.064" v="37" actId="1076"/>
        <pc:sldMkLst>
          <pc:docMk/>
          <pc:sldMk cId="0" sldId="262"/>
        </pc:sldMkLst>
        <pc:picChg chg="add mod">
          <ac:chgData name="Дмитрий Азаров" userId="acc9383ebd230318" providerId="LiveId" clId="{620E7EB4-24E5-4640-8054-253D3F86E5EC}" dt="2025-11-14T09:42:53.496" v="36" actId="1076"/>
          <ac:picMkLst>
            <pc:docMk/>
            <pc:sldMk cId="0" sldId="262"/>
            <ac:picMk id="5" creationId="{9CA4D5CC-B493-4B58-ACD6-C91A02C139C1}"/>
          </ac:picMkLst>
        </pc:picChg>
        <pc:picChg chg="del">
          <ac:chgData name="Дмитрий Азаров" userId="acc9383ebd230318" providerId="LiveId" clId="{620E7EB4-24E5-4640-8054-253D3F86E5EC}" dt="2025-11-14T09:42:42.326" v="33" actId="478"/>
          <ac:picMkLst>
            <pc:docMk/>
            <pc:sldMk cId="0" sldId="262"/>
            <ac:picMk id="10" creationId="{D54C9536-5817-4E7D-AEE5-4CED6EC5501B}"/>
          </ac:picMkLst>
        </pc:picChg>
        <pc:picChg chg="del">
          <ac:chgData name="Дмитрий Азаров" userId="acc9383ebd230318" providerId="LiveId" clId="{620E7EB4-24E5-4640-8054-253D3F86E5EC}" dt="2025-11-14T09:27:33.877" v="0" actId="478"/>
          <ac:picMkLst>
            <pc:docMk/>
            <pc:sldMk cId="0" sldId="262"/>
            <ac:picMk id="14" creationId="{0778472A-B273-457C-9DB4-42879243D969}"/>
          </ac:picMkLst>
        </pc:picChg>
        <pc:picChg chg="mod">
          <ac:chgData name="Дмитрий Азаров" userId="acc9383ebd230318" providerId="LiveId" clId="{620E7EB4-24E5-4640-8054-253D3F86E5EC}" dt="2025-11-14T09:42:56.064" v="37" actId="1076"/>
          <ac:picMkLst>
            <pc:docMk/>
            <pc:sldMk cId="0" sldId="262"/>
            <ac:picMk id="16" creationId="{05A77050-B136-403F-AA3E-96773F7D0D20}"/>
          </ac:picMkLst>
        </pc:picChg>
      </pc:sldChg>
      <pc:sldChg chg="modSp mod">
        <pc:chgData name="Дмитрий Азаров" userId="acc9383ebd230318" providerId="LiveId" clId="{620E7EB4-24E5-4640-8054-253D3F86E5EC}" dt="2025-11-19T08:30:38.282" v="66" actId="20577"/>
        <pc:sldMkLst>
          <pc:docMk/>
          <pc:sldMk cId="194081750" sldId="266"/>
        </pc:sldMkLst>
        <pc:spChg chg="mod">
          <ac:chgData name="Дмитрий Азаров" userId="acc9383ebd230318" providerId="LiveId" clId="{620E7EB4-24E5-4640-8054-253D3F86E5EC}" dt="2025-11-19T08:30:38.282" v="66" actId="20577"/>
          <ac:spMkLst>
            <pc:docMk/>
            <pc:sldMk cId="194081750" sldId="266"/>
            <ac:spMk id="5" creationId="{00000000-0000-0000-0000-000000000000}"/>
          </ac:spMkLst>
        </pc:spChg>
      </pc:sldChg>
      <pc:sldChg chg="addSp delSp modSp add mod">
        <pc:chgData name="Дмитрий Азаров" userId="acc9383ebd230318" providerId="LiveId" clId="{620E7EB4-24E5-4640-8054-253D3F86E5EC}" dt="2025-11-19T08:29:54.331" v="55" actId="14100"/>
        <pc:sldMkLst>
          <pc:docMk/>
          <pc:sldMk cId="1245390632" sldId="275"/>
        </pc:sldMkLst>
        <pc:picChg chg="del">
          <ac:chgData name="Дмитрий Азаров" userId="acc9383ebd230318" providerId="LiveId" clId="{620E7EB4-24E5-4640-8054-253D3F86E5EC}" dt="2025-11-14T09:43:30.555" v="41" actId="478"/>
          <ac:picMkLst>
            <pc:docMk/>
            <pc:sldMk cId="1245390632" sldId="275"/>
            <ac:picMk id="5" creationId="{9CA4D5CC-B493-4B58-ACD6-C91A02C139C1}"/>
          </ac:picMkLst>
        </pc:picChg>
        <pc:picChg chg="add mod">
          <ac:chgData name="Дмитрий Азаров" userId="acc9383ebd230318" providerId="LiveId" clId="{620E7EB4-24E5-4640-8054-253D3F86E5EC}" dt="2025-11-19T08:29:47.686" v="53" actId="1076"/>
          <ac:picMkLst>
            <pc:docMk/>
            <pc:sldMk cId="1245390632" sldId="275"/>
            <ac:picMk id="8" creationId="{01F74CC0-8E7D-4660-B436-E9ED59C86CC9}"/>
          </ac:picMkLst>
        </pc:picChg>
        <pc:picChg chg="add del mod">
          <ac:chgData name="Дмитрий Азаров" userId="acc9383ebd230318" providerId="LiveId" clId="{620E7EB4-24E5-4640-8054-253D3F86E5EC}" dt="2025-11-19T08:29:35.250" v="49" actId="478"/>
          <ac:picMkLst>
            <pc:docMk/>
            <pc:sldMk cId="1245390632" sldId="275"/>
            <ac:picMk id="10" creationId="{79839971-2C66-4AFE-BB18-044F42C4EF1C}"/>
          </ac:picMkLst>
        </pc:picChg>
        <pc:picChg chg="del">
          <ac:chgData name="Дмитрий Азаров" userId="acc9383ebd230318" providerId="LiveId" clId="{620E7EB4-24E5-4640-8054-253D3F86E5EC}" dt="2025-11-14T09:43:26.256" v="39" actId="478"/>
          <ac:picMkLst>
            <pc:docMk/>
            <pc:sldMk cId="1245390632" sldId="275"/>
            <ac:picMk id="12" creationId="{875068F2-488C-4F27-A2E5-B3489F8458A3}"/>
          </ac:picMkLst>
        </pc:picChg>
        <pc:picChg chg="add mod">
          <ac:chgData name="Дмитрий Азаров" userId="acc9383ebd230318" providerId="LiveId" clId="{620E7EB4-24E5-4640-8054-253D3F86E5EC}" dt="2025-11-19T08:29:54.331" v="55" actId="14100"/>
          <ac:picMkLst>
            <pc:docMk/>
            <pc:sldMk cId="1245390632" sldId="275"/>
            <ac:picMk id="13" creationId="{2DF398DF-540A-43F9-81B8-9B49080D9D3C}"/>
          </ac:picMkLst>
        </pc:picChg>
        <pc:picChg chg="del">
          <ac:chgData name="Дмитрий Азаров" userId="acc9383ebd230318" providerId="LiveId" clId="{620E7EB4-24E5-4640-8054-253D3F86E5EC}" dt="2025-11-14T09:43:28.926" v="40" actId="478"/>
          <ac:picMkLst>
            <pc:docMk/>
            <pc:sldMk cId="1245390632" sldId="275"/>
            <ac:picMk id="16" creationId="{05A77050-B136-403F-AA3E-96773F7D0D2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4800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753597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82613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4209027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660573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743880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2540646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453909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500826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108044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4234192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jpg"/></Relationships>
</file>

<file path=ppt/slides/_rels/slide1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
        <p:nvSpPr>
          <p:cNvPr id="3" name="Text 0"/>
          <p:cNvSpPr txBox="1"/>
          <p:nvPr/>
        </p:nvSpPr>
        <p:spPr>
          <a:xfrm>
            <a:off x="8683579" y="1533478"/>
            <a:ext cx="8427512" cy="5025600"/>
          </a:xfrm>
          <a:prstGeom prst="rect">
            <a:avLst/>
          </a:prstGeom>
          <a:noFill/>
          <a:ln/>
        </p:spPr>
        <p:txBody>
          <a:bodyPr wrap="square" lIns="0" tIns="0" rIns="0" bIns="0" rtlCol="0" anchor="ctr"/>
          <a:lstStyle/>
          <a:p>
            <a:pPr marL="0" indent="0" algn="l">
              <a:lnSpc>
                <a:spcPct val="100000"/>
              </a:lnSpc>
              <a:buNone/>
            </a:pPr>
            <a:r>
              <a:rPr lang="en-US" sz="4800" b="1" dirty="0">
                <a:solidFill>
                  <a:srgbClr val="000000"/>
                </a:solidFill>
                <a:latin typeface="Arial" pitchFamily="34" charset="0"/>
                <a:ea typeface="Arial" pitchFamily="34" charset="-122"/>
                <a:cs typeface="Arial" pitchFamily="34" charset="-120"/>
              </a:rPr>
              <a:t>СИСТЕМА </a:t>
            </a:r>
          </a:p>
          <a:p>
            <a:pPr marL="0" indent="0" algn="l">
              <a:lnSpc>
                <a:spcPct val="100000"/>
              </a:lnSpc>
              <a:buNone/>
            </a:pPr>
            <a:r>
              <a:rPr lang="en-US" sz="4800" b="1" dirty="0">
                <a:solidFill>
                  <a:srgbClr val="000000"/>
                </a:solidFill>
                <a:latin typeface="Arial" pitchFamily="34" charset="0"/>
                <a:ea typeface="Arial" pitchFamily="34" charset="-122"/>
                <a:cs typeface="Arial" pitchFamily="34" charset="-120"/>
              </a:rPr>
              <a:t>АВТОМАТИЧЕСКОЙ </a:t>
            </a:r>
          </a:p>
          <a:p>
            <a:pPr marL="0" indent="0" algn="l">
              <a:lnSpc>
                <a:spcPct val="100000"/>
              </a:lnSpc>
              <a:buNone/>
            </a:pPr>
            <a:r>
              <a:rPr lang="en-US" sz="4800" b="1" dirty="0">
                <a:solidFill>
                  <a:srgbClr val="000000"/>
                </a:solidFill>
                <a:latin typeface="Arial" pitchFamily="34" charset="0"/>
                <a:ea typeface="Arial" pitchFamily="34" charset="-122"/>
                <a:cs typeface="Arial" pitchFamily="34" charset="-120"/>
              </a:rPr>
              <a:t>ОЦЕНКИ ЭКЗАМЕНОВ</a:t>
            </a:r>
            <a:r>
              <a:rPr lang="en-US" sz="4600" b="1" dirty="0">
                <a:solidFill>
                  <a:srgbClr val="000000"/>
                </a:solidFill>
                <a:latin typeface="Arial" pitchFamily="34" charset="0"/>
                <a:ea typeface="Arial" pitchFamily="34" charset="-122"/>
                <a:cs typeface="Arial" pitchFamily="34" charset="-120"/>
              </a:rPr>
              <a:t>
</a:t>
            </a:r>
            <a:r>
              <a:rPr lang="en-US" sz="2800" b="1" dirty="0">
                <a:solidFill>
                  <a:srgbClr val="000000"/>
                </a:solidFill>
                <a:latin typeface="Arial" pitchFamily="34" charset="0"/>
                <a:ea typeface="Arial" pitchFamily="34" charset="-122"/>
                <a:cs typeface="Arial" pitchFamily="34" charset="-120"/>
              </a:rPr>
              <a:t>Веб-приложение на базе ИИ для </a:t>
            </a:r>
            <a:r>
              <a:rPr lang="en-US" sz="2800" b="1" dirty="0" err="1">
                <a:solidFill>
                  <a:srgbClr val="000000"/>
                </a:solidFill>
                <a:latin typeface="Arial" pitchFamily="34" charset="0"/>
                <a:ea typeface="Arial" pitchFamily="34" charset="-122"/>
                <a:cs typeface="Arial" pitchFamily="34" charset="-120"/>
              </a:rPr>
              <a:t>объективной</a:t>
            </a:r>
            <a:r>
              <a:rPr lang="en-US" sz="2800" b="1" dirty="0">
                <a:solidFill>
                  <a:srgbClr val="000000"/>
                </a:solidFill>
                <a:latin typeface="Arial" pitchFamily="34" charset="0"/>
                <a:ea typeface="Arial" pitchFamily="34" charset="-122"/>
                <a:cs typeface="Arial" pitchFamily="34" charset="-120"/>
              </a:rPr>
              <a:t> </a:t>
            </a:r>
          </a:p>
          <a:p>
            <a:pPr marL="0" indent="0" algn="l">
              <a:lnSpc>
                <a:spcPct val="100000"/>
              </a:lnSpc>
              <a:buNone/>
            </a:pPr>
            <a:r>
              <a:rPr lang="en-US" sz="2800" b="1" dirty="0">
                <a:solidFill>
                  <a:srgbClr val="000000"/>
                </a:solidFill>
                <a:latin typeface="Arial" pitchFamily="34" charset="0"/>
                <a:ea typeface="Arial" pitchFamily="34" charset="-122"/>
                <a:cs typeface="Arial" pitchFamily="34" charset="-120"/>
              </a:rPr>
              <a:t>и быстрой оценки устных ответов.</a:t>
            </a:r>
            <a:r>
              <a:rPr lang="en-US" sz="2400" b="1" dirty="0">
                <a:solidFill>
                  <a:srgbClr val="000000"/>
                </a:solidFill>
                <a:latin typeface="Arial" pitchFamily="34" charset="0"/>
                <a:ea typeface="Arial" pitchFamily="34" charset="-122"/>
                <a:cs typeface="Arial" pitchFamily="34" charset="-120"/>
              </a:rPr>
              <a:t>
</a:t>
            </a:r>
            <a:endParaRPr lang="en-US" sz="4600" dirty="0"/>
          </a:p>
        </p:txBody>
      </p:sp>
      <p:sp>
        <p:nvSpPr>
          <p:cNvPr id="4" name="Text 1"/>
          <p:cNvSpPr txBox="1"/>
          <p:nvPr/>
        </p:nvSpPr>
        <p:spPr>
          <a:xfrm>
            <a:off x="8574397" y="8050020"/>
            <a:ext cx="7802400" cy="1226400"/>
          </a:xfrm>
          <a:prstGeom prst="rect">
            <a:avLst/>
          </a:prstGeom>
          <a:noFill/>
          <a:ln/>
        </p:spPr>
        <p:txBody>
          <a:bodyPr wrap="square" lIns="0" tIns="0" rIns="0" bIns="0" rtlCol="0" anchor="ctr"/>
          <a:lstStyle/>
          <a:p>
            <a:pPr marL="0" indent="0" algn="l">
              <a:lnSpc>
                <a:spcPct val="100000"/>
              </a:lnSpc>
              <a:buNone/>
            </a:pPr>
            <a:r>
              <a:rPr lang="ru-RU" sz="2800" b="1" dirty="0">
                <a:solidFill>
                  <a:srgbClr val="000000"/>
                </a:solidFill>
                <a:latin typeface="Arial" pitchFamily="34" charset="0"/>
                <a:cs typeface="Arial" pitchFamily="34" charset="-120"/>
              </a:rPr>
              <a:t>Дмитрий Азаров, Санкт-Петербург.</a:t>
            </a:r>
            <a:endParaRPr lang="en-US" sz="1800" dirty="0"/>
          </a:p>
        </p:txBody>
      </p:sp>
      <p:pic>
        <p:nvPicPr>
          <p:cNvPr id="6" name="Рисунок 5">
            <a:extLst>
              <a:ext uri="{FF2B5EF4-FFF2-40B4-BE49-F238E27FC236}">
                <a16:creationId xmlns:a16="http://schemas.microsoft.com/office/drawing/2014/main" id="{6A7A845B-3788-4607-BFA7-1066D8DD0C15}"/>
              </a:ext>
            </a:extLst>
          </p:cNvPr>
          <p:cNvPicPr>
            <a:picLocks noChangeAspect="1"/>
          </p:cNvPicPr>
          <p:nvPr/>
        </p:nvPicPr>
        <p:blipFill>
          <a:blip r:embed="rId4"/>
          <a:stretch>
            <a:fillRect/>
          </a:stretch>
        </p:blipFill>
        <p:spPr>
          <a:xfrm>
            <a:off x="1292702" y="912586"/>
            <a:ext cx="6691238" cy="83678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8950" y="2235947"/>
            <a:ext cx="8053500" cy="8029906"/>
          </a:xfrm>
          <a:prstGeom prst="rect">
            <a:avLst/>
          </a:prstGeom>
        </p:spPr>
      </p:pic>
      <p:pic>
        <p:nvPicPr>
          <p:cNvPr id="3" name="Image 1" descr="preencoded.png"/>
          <p:cNvPicPr>
            <a:picLocks noChangeAspect="1"/>
          </p:cNvPicPr>
          <p:nvPr/>
        </p:nvPicPr>
        <p:blipFill>
          <a:blip r:embed="rId4"/>
          <a:stretch>
            <a:fillRect/>
          </a:stretch>
        </p:blipFill>
        <p:spPr>
          <a:xfrm>
            <a:off x="-109182" y="-21147"/>
            <a:ext cx="18397182" cy="10287000"/>
          </a:xfrm>
          <a:prstGeom prst="rect">
            <a:avLst/>
          </a:prstGeom>
        </p:spPr>
      </p:pic>
      <p:sp>
        <p:nvSpPr>
          <p:cNvPr id="4" name="Text 0"/>
          <p:cNvSpPr txBox="1"/>
          <p:nvPr/>
        </p:nvSpPr>
        <p:spPr>
          <a:xfrm>
            <a:off x="17242500" y="9536150"/>
            <a:ext cx="924600" cy="1085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2</a:t>
            </a:r>
            <a:endParaRPr lang="en-US" sz="2200" dirty="0"/>
          </a:p>
        </p:txBody>
      </p:sp>
      <p:sp>
        <p:nvSpPr>
          <p:cNvPr id="5" name="Text 1"/>
          <p:cNvSpPr txBox="1"/>
          <p:nvPr/>
        </p:nvSpPr>
        <p:spPr>
          <a:xfrm>
            <a:off x="12964922" y="3124145"/>
            <a:ext cx="8555156" cy="2943547"/>
          </a:xfrm>
          <a:prstGeom prst="rect">
            <a:avLst/>
          </a:prstGeom>
          <a:noFill/>
          <a:ln/>
        </p:spPr>
        <p:txBody>
          <a:bodyPr wrap="square" lIns="0" tIns="0" rIns="0" bIns="0" rtlCol="0" anchor="ctr"/>
          <a:lstStyle/>
          <a:p>
            <a:pPr algn="l">
              <a:lnSpc>
                <a:spcPct val="100000"/>
              </a:lnSpc>
            </a:pPr>
            <a:r>
              <a:rPr lang="ru-RU" sz="3200" b="1" dirty="0">
                <a:solidFill>
                  <a:srgbClr val="000000"/>
                </a:solidFill>
                <a:latin typeface="Arial" pitchFamily="34" charset="0"/>
                <a:ea typeface="Arial" pitchFamily="34" charset="-122"/>
                <a:cs typeface="Arial" pitchFamily="34" charset="-120"/>
              </a:rPr>
              <a:t>- </a:t>
            </a:r>
            <a:r>
              <a:rPr lang="en-US" sz="2800" dirty="0" err="1">
                <a:solidFill>
                  <a:srgbClr val="000000"/>
                </a:solidFill>
                <a:latin typeface="Arial" pitchFamily="34" charset="0"/>
                <a:ea typeface="Arial" pitchFamily="34" charset="-122"/>
                <a:cs typeface="Arial" pitchFamily="34" charset="-120"/>
              </a:rPr>
              <a:t>на</a:t>
            </a:r>
            <a:r>
              <a:rPr lang="en-US" sz="2800" dirty="0">
                <a:solidFill>
                  <a:srgbClr val="000000"/>
                </a:solidFill>
                <a:latin typeface="Arial" pitchFamily="34" charset="0"/>
                <a:ea typeface="Arial" pitchFamily="34" charset="-122"/>
                <a:cs typeface="Arial" pitchFamily="34" charset="-120"/>
              </a:rPr>
              <a:t> </a:t>
            </a:r>
            <a:r>
              <a:rPr lang="en-US" sz="2800" dirty="0" err="1">
                <a:solidFill>
                  <a:srgbClr val="000000"/>
                </a:solidFill>
                <a:latin typeface="Arial" pitchFamily="34" charset="0"/>
                <a:ea typeface="Arial" pitchFamily="34" charset="-122"/>
                <a:cs typeface="Arial" pitchFamily="34" charset="-120"/>
              </a:rPr>
              <a:t>всех</a:t>
            </a:r>
            <a:r>
              <a:rPr lang="en-US" sz="2800" dirty="0">
                <a:solidFill>
                  <a:srgbClr val="000000"/>
                </a:solidFill>
                <a:latin typeface="Arial" pitchFamily="34" charset="0"/>
                <a:ea typeface="Arial" pitchFamily="34" charset="-122"/>
                <a:cs typeface="Arial" pitchFamily="34" charset="-120"/>
              </a:rPr>
              <a:t> </a:t>
            </a:r>
            <a:r>
              <a:rPr lang="en-US" sz="2800" dirty="0" err="1">
                <a:solidFill>
                  <a:srgbClr val="000000"/>
                </a:solidFill>
                <a:latin typeface="Arial" pitchFamily="34" charset="0"/>
                <a:ea typeface="Arial" pitchFamily="34" charset="-122"/>
                <a:cs typeface="Arial" pitchFamily="34" charset="-120"/>
              </a:rPr>
              <a:t>устройствах</a:t>
            </a:r>
            <a:endParaRPr lang="ru-RU" sz="2800" dirty="0">
              <a:solidFill>
                <a:srgbClr val="000000"/>
              </a:solidFill>
              <a:latin typeface="Arial" pitchFamily="34" charset="0"/>
              <a:ea typeface="Arial" pitchFamily="34" charset="-122"/>
              <a:cs typeface="Arial" pitchFamily="34" charset="-120"/>
            </a:endParaRPr>
          </a:p>
          <a:p>
            <a:pPr algn="l">
              <a:lnSpc>
                <a:spcPct val="100000"/>
              </a:lnSpc>
            </a:pPr>
            <a:r>
              <a:rPr lang="ru-RU" sz="2800" dirty="0">
                <a:solidFill>
                  <a:srgbClr val="000000"/>
                </a:solidFill>
                <a:latin typeface="Arial" pitchFamily="34" charset="0"/>
                <a:ea typeface="Arial" pitchFamily="34" charset="-122"/>
                <a:cs typeface="Arial" pitchFamily="34" charset="-120"/>
              </a:rPr>
              <a:t>- </a:t>
            </a:r>
            <a:r>
              <a:rPr lang="en-US" sz="2800" dirty="0" err="1">
                <a:solidFill>
                  <a:srgbClr val="000000"/>
                </a:solidFill>
                <a:latin typeface="Arial" pitchFamily="34" charset="0"/>
                <a:ea typeface="Arial" pitchFamily="34" charset="-122"/>
                <a:cs typeface="Arial" pitchFamily="34" charset="-120"/>
              </a:rPr>
              <a:t>поддерживает</a:t>
            </a:r>
            <a:r>
              <a:rPr lang="en-US" sz="2800" dirty="0">
                <a:solidFill>
                  <a:srgbClr val="000000"/>
                </a:solidFill>
                <a:latin typeface="Arial" pitchFamily="34" charset="0"/>
                <a:ea typeface="Arial" pitchFamily="34" charset="-122"/>
                <a:cs typeface="Arial" pitchFamily="34" charset="-120"/>
              </a:rPr>
              <a:t> </a:t>
            </a:r>
            <a:r>
              <a:rPr lang="en-US" sz="2800" dirty="0" err="1">
                <a:solidFill>
                  <a:srgbClr val="000000"/>
                </a:solidFill>
                <a:latin typeface="Arial" pitchFamily="34" charset="0"/>
                <a:ea typeface="Arial" pitchFamily="34" charset="-122"/>
                <a:cs typeface="Arial" pitchFamily="34" charset="-120"/>
              </a:rPr>
              <a:t>загрузку</a:t>
            </a:r>
            <a:r>
              <a:rPr lang="en-US" sz="2800" dirty="0">
                <a:solidFill>
                  <a:srgbClr val="000000"/>
                </a:solidFill>
                <a:latin typeface="Arial" pitchFamily="34" charset="0"/>
                <a:ea typeface="Arial" pitchFamily="34" charset="-122"/>
                <a:cs typeface="Arial" pitchFamily="34" charset="-120"/>
              </a:rPr>
              <a:t> CSV</a:t>
            </a:r>
            <a:endParaRPr lang="ru-RU" sz="2800" dirty="0">
              <a:solidFill>
                <a:srgbClr val="000000"/>
              </a:solidFill>
              <a:latin typeface="Arial" pitchFamily="34" charset="0"/>
              <a:ea typeface="Arial" pitchFamily="34" charset="-122"/>
              <a:cs typeface="Arial" pitchFamily="34" charset="-120"/>
            </a:endParaRPr>
          </a:p>
          <a:p>
            <a:pPr algn="l">
              <a:lnSpc>
                <a:spcPct val="100000"/>
              </a:lnSpc>
            </a:pPr>
            <a:r>
              <a:rPr lang="ru-RU" sz="2800" dirty="0">
                <a:solidFill>
                  <a:srgbClr val="000000"/>
                </a:solidFill>
                <a:latin typeface="Arial" pitchFamily="34" charset="0"/>
                <a:ea typeface="Arial" pitchFamily="34" charset="-122"/>
                <a:cs typeface="Arial" pitchFamily="34" charset="-120"/>
              </a:rPr>
              <a:t>- </a:t>
            </a:r>
            <a:r>
              <a:rPr lang="en-US" sz="2800" dirty="0" err="1">
                <a:solidFill>
                  <a:srgbClr val="000000"/>
                </a:solidFill>
                <a:latin typeface="Arial" pitchFamily="34" charset="0"/>
                <a:ea typeface="Arial" pitchFamily="34" charset="-122"/>
                <a:cs typeface="Arial" pitchFamily="34" charset="-120"/>
              </a:rPr>
              <a:t>настройку</a:t>
            </a:r>
            <a:r>
              <a:rPr lang="en-US" sz="2800" dirty="0">
                <a:solidFill>
                  <a:srgbClr val="000000"/>
                </a:solidFill>
                <a:latin typeface="Arial" pitchFamily="34" charset="0"/>
                <a:ea typeface="Arial" pitchFamily="34" charset="-122"/>
                <a:cs typeface="Arial" pitchFamily="34" charset="-120"/>
              </a:rPr>
              <a:t> </a:t>
            </a:r>
            <a:r>
              <a:rPr lang="en-US" sz="2800" dirty="0" err="1">
                <a:solidFill>
                  <a:srgbClr val="000000"/>
                </a:solidFill>
                <a:latin typeface="Arial" pitchFamily="34" charset="0"/>
                <a:ea typeface="Arial" pitchFamily="34" charset="-122"/>
                <a:cs typeface="Arial" pitchFamily="34" charset="-120"/>
              </a:rPr>
              <a:t>параметров</a:t>
            </a:r>
            <a:r>
              <a:rPr lang="en-US" sz="2800" dirty="0">
                <a:solidFill>
                  <a:srgbClr val="000000"/>
                </a:solidFill>
                <a:latin typeface="Arial" pitchFamily="34" charset="0"/>
                <a:ea typeface="Arial" pitchFamily="34" charset="-122"/>
                <a:cs typeface="Arial" pitchFamily="34" charset="-120"/>
              </a:rPr>
              <a:t> </a:t>
            </a:r>
            <a:endParaRPr lang="ru-RU" sz="2800" dirty="0">
              <a:solidFill>
                <a:srgbClr val="000000"/>
              </a:solidFill>
              <a:latin typeface="Arial" pitchFamily="34" charset="0"/>
              <a:ea typeface="Arial" pitchFamily="34" charset="-122"/>
              <a:cs typeface="Arial" pitchFamily="34" charset="-120"/>
            </a:endParaRPr>
          </a:p>
          <a:p>
            <a:pPr algn="l">
              <a:lnSpc>
                <a:spcPct val="100000"/>
              </a:lnSpc>
            </a:pPr>
            <a:r>
              <a:rPr lang="ru-RU" sz="2800" dirty="0">
                <a:solidFill>
                  <a:srgbClr val="000000"/>
                </a:solidFill>
                <a:latin typeface="Arial" pitchFamily="34" charset="0"/>
                <a:ea typeface="Arial" pitchFamily="34" charset="-122"/>
                <a:cs typeface="Arial" pitchFamily="34" charset="-120"/>
              </a:rPr>
              <a:t>- </a:t>
            </a:r>
            <a:r>
              <a:rPr lang="en-US" sz="2800" dirty="0" err="1">
                <a:solidFill>
                  <a:srgbClr val="000000"/>
                </a:solidFill>
                <a:latin typeface="Arial" pitchFamily="34" charset="0"/>
                <a:ea typeface="Arial" pitchFamily="34" charset="-122"/>
                <a:cs typeface="Arial" pitchFamily="34" charset="-120"/>
              </a:rPr>
              <a:t>экспорт</a:t>
            </a:r>
            <a:r>
              <a:rPr lang="en-US" sz="2800" dirty="0">
                <a:solidFill>
                  <a:srgbClr val="000000"/>
                </a:solidFill>
                <a:latin typeface="Arial" pitchFamily="34" charset="0"/>
                <a:ea typeface="Arial" pitchFamily="34" charset="-122"/>
                <a:cs typeface="Arial" pitchFamily="34" charset="-120"/>
              </a:rPr>
              <a:t> </a:t>
            </a:r>
            <a:r>
              <a:rPr lang="en-US" sz="2800" dirty="0" err="1">
                <a:solidFill>
                  <a:srgbClr val="000000"/>
                </a:solidFill>
                <a:latin typeface="Arial" pitchFamily="34" charset="0"/>
                <a:ea typeface="Arial" pitchFamily="34" charset="-122"/>
                <a:cs typeface="Arial" pitchFamily="34" charset="-120"/>
              </a:rPr>
              <a:t>результатов</a:t>
            </a:r>
            <a:endParaRPr lang="en-US" sz="3200" dirty="0"/>
          </a:p>
        </p:txBody>
      </p:sp>
      <p:sp>
        <p:nvSpPr>
          <p:cNvPr id="6" name="Text 2"/>
          <p:cNvSpPr txBox="1"/>
          <p:nvPr/>
        </p:nvSpPr>
        <p:spPr>
          <a:xfrm>
            <a:off x="519350" y="468400"/>
            <a:ext cx="14526600" cy="1296300"/>
          </a:xfrm>
          <a:prstGeom prst="rect">
            <a:avLst/>
          </a:prstGeom>
          <a:noFill/>
          <a:ln/>
        </p:spPr>
        <p:txBody>
          <a:bodyPr wrap="square" lIns="0" tIns="0" rIns="0" bIns="0" rtlCol="0" anchor="ctr"/>
          <a:lstStyle/>
          <a:p>
            <a:pPr marL="0" indent="0" algn="l">
              <a:lnSpc>
                <a:spcPct val="100000"/>
              </a:lnSpc>
              <a:buNone/>
            </a:pPr>
            <a:r>
              <a:rPr lang="ru-RU" sz="5000" b="1" dirty="0">
                <a:solidFill>
                  <a:srgbClr val="FFFFFF"/>
                </a:solidFill>
                <a:latin typeface="Arial" pitchFamily="34" charset="0"/>
                <a:ea typeface="Arial" pitchFamily="34" charset="-122"/>
                <a:cs typeface="Arial" pitchFamily="34" charset="-120"/>
              </a:rPr>
              <a:t>Адаптивный веб-интерфейс 24/7</a:t>
            </a:r>
            <a:endParaRPr lang="en-US" sz="5000" dirty="0"/>
          </a:p>
        </p:txBody>
      </p:sp>
      <p:sp>
        <p:nvSpPr>
          <p:cNvPr id="7" name="TextBox 6">
            <a:extLst>
              <a:ext uri="{FF2B5EF4-FFF2-40B4-BE49-F238E27FC236}">
                <a16:creationId xmlns:a16="http://schemas.microsoft.com/office/drawing/2014/main" id="{61CD3DE9-C7FD-4F34-A13E-1F6AFCF6DB19}"/>
              </a:ext>
            </a:extLst>
          </p:cNvPr>
          <p:cNvSpPr txBox="1"/>
          <p:nvPr/>
        </p:nvSpPr>
        <p:spPr>
          <a:xfrm>
            <a:off x="12970147" y="9212984"/>
            <a:ext cx="4734653" cy="646331"/>
          </a:xfrm>
          <a:prstGeom prst="rect">
            <a:avLst/>
          </a:prstGeom>
          <a:noFill/>
        </p:spPr>
        <p:txBody>
          <a:bodyPr wrap="square" rtlCol="0">
            <a:spAutoFit/>
          </a:bodyPr>
          <a:lstStyle/>
          <a:p>
            <a:r>
              <a:rPr lang="en-US" sz="3600" dirty="0"/>
              <a:t>http://vds.spb.su:8000</a:t>
            </a:r>
            <a:endParaRPr lang="ru-RU" sz="3600" dirty="0"/>
          </a:p>
        </p:txBody>
      </p:sp>
      <p:pic>
        <p:nvPicPr>
          <p:cNvPr id="9" name="Рисунок 8">
            <a:extLst>
              <a:ext uri="{FF2B5EF4-FFF2-40B4-BE49-F238E27FC236}">
                <a16:creationId xmlns:a16="http://schemas.microsoft.com/office/drawing/2014/main" id="{F8840D1A-D061-4A41-808A-94A5768E2049}"/>
              </a:ext>
            </a:extLst>
          </p:cNvPr>
          <p:cNvPicPr>
            <a:picLocks noChangeAspect="1"/>
          </p:cNvPicPr>
          <p:nvPr/>
        </p:nvPicPr>
        <p:blipFill>
          <a:blip r:embed="rId5"/>
          <a:stretch>
            <a:fillRect/>
          </a:stretch>
        </p:blipFill>
        <p:spPr>
          <a:xfrm>
            <a:off x="8976414" y="2229222"/>
            <a:ext cx="3704664" cy="8023637"/>
          </a:xfrm>
          <a:prstGeom prst="rect">
            <a:avLst/>
          </a:prstGeom>
        </p:spPr>
      </p:pic>
      <p:pic>
        <p:nvPicPr>
          <p:cNvPr id="11" name="Рисунок 10">
            <a:extLst>
              <a:ext uri="{FF2B5EF4-FFF2-40B4-BE49-F238E27FC236}">
                <a16:creationId xmlns:a16="http://schemas.microsoft.com/office/drawing/2014/main" id="{8A90C343-7AA0-442A-9FA4-5BD4DDB86226}"/>
              </a:ext>
            </a:extLst>
          </p:cNvPr>
          <p:cNvPicPr>
            <a:picLocks noChangeAspect="1"/>
          </p:cNvPicPr>
          <p:nvPr/>
        </p:nvPicPr>
        <p:blipFill>
          <a:blip r:embed="rId6"/>
          <a:stretch>
            <a:fillRect/>
          </a:stretch>
        </p:blipFill>
        <p:spPr>
          <a:xfrm>
            <a:off x="-1" y="2235947"/>
            <a:ext cx="8882310" cy="805105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pic>
        <p:nvPicPr>
          <p:cNvPr id="3" name="Image 1" descr="preencoded.png"/>
          <p:cNvPicPr>
            <a:picLocks noChangeAspect="1"/>
          </p:cNvPicPr>
          <p:nvPr/>
        </p:nvPicPr>
        <p:blipFill>
          <a:blip r:embed="rId4"/>
          <a:stretch>
            <a:fillRect/>
          </a:stretch>
        </p:blipFill>
        <p:spPr>
          <a:xfrm>
            <a:off x="962345" y="2985284"/>
            <a:ext cx="835200" cy="668160"/>
          </a:xfrm>
          <a:prstGeom prst="rect">
            <a:avLst/>
          </a:prstGeom>
        </p:spPr>
      </p:pic>
      <p:pic>
        <p:nvPicPr>
          <p:cNvPr id="4" name="Image 2" descr="preencoded.png"/>
          <p:cNvPicPr>
            <a:picLocks noChangeAspect="1"/>
          </p:cNvPicPr>
          <p:nvPr/>
        </p:nvPicPr>
        <p:blipFill>
          <a:blip r:embed="rId5"/>
          <a:stretch>
            <a:fillRect/>
          </a:stretch>
        </p:blipFill>
        <p:spPr>
          <a:xfrm>
            <a:off x="4341345" y="2915264"/>
            <a:ext cx="808200" cy="808200"/>
          </a:xfrm>
          <a:prstGeom prst="rect">
            <a:avLst/>
          </a:prstGeom>
        </p:spPr>
      </p:pic>
      <p:pic>
        <p:nvPicPr>
          <p:cNvPr id="5" name="Image 3" descr="preencoded.png"/>
          <p:cNvPicPr>
            <a:picLocks noChangeAspect="1"/>
          </p:cNvPicPr>
          <p:nvPr/>
        </p:nvPicPr>
        <p:blipFill>
          <a:blip r:embed="rId6"/>
          <a:stretch>
            <a:fillRect/>
          </a:stretch>
        </p:blipFill>
        <p:spPr>
          <a:xfrm>
            <a:off x="7757358" y="2915264"/>
            <a:ext cx="707175" cy="808200"/>
          </a:xfrm>
          <a:prstGeom prst="rect">
            <a:avLst/>
          </a:prstGeom>
        </p:spPr>
      </p:pic>
      <p:pic>
        <p:nvPicPr>
          <p:cNvPr id="6" name="Image 4" descr="preencoded.png"/>
          <p:cNvPicPr>
            <a:picLocks noChangeAspect="1"/>
          </p:cNvPicPr>
          <p:nvPr/>
        </p:nvPicPr>
        <p:blipFill>
          <a:blip r:embed="rId7"/>
          <a:stretch>
            <a:fillRect/>
          </a:stretch>
        </p:blipFill>
        <p:spPr>
          <a:xfrm>
            <a:off x="11058845" y="2985284"/>
            <a:ext cx="835200" cy="668160"/>
          </a:xfrm>
          <a:prstGeom prst="rect">
            <a:avLst/>
          </a:prstGeom>
        </p:spPr>
      </p:pic>
      <p:pic>
        <p:nvPicPr>
          <p:cNvPr id="7" name="Image 5" descr="preencoded.png"/>
          <p:cNvPicPr>
            <a:picLocks noChangeAspect="1"/>
          </p:cNvPicPr>
          <p:nvPr/>
        </p:nvPicPr>
        <p:blipFill>
          <a:blip r:embed="rId8"/>
          <a:stretch>
            <a:fillRect/>
          </a:stretch>
        </p:blipFill>
        <p:spPr>
          <a:xfrm>
            <a:off x="14424345" y="2948164"/>
            <a:ext cx="835200" cy="742400"/>
          </a:xfrm>
          <a:prstGeom prst="rect">
            <a:avLst/>
          </a:prstGeom>
        </p:spPr>
      </p:pic>
      <p:sp>
        <p:nvSpPr>
          <p:cNvPr id="8" name="Text 0"/>
          <p:cNvSpPr txBox="1"/>
          <p:nvPr/>
        </p:nvSpPr>
        <p:spPr>
          <a:xfrm>
            <a:off x="832650" y="-56980"/>
            <a:ext cx="16622700" cy="1620900"/>
          </a:xfrm>
          <a:prstGeom prst="rect">
            <a:avLst/>
          </a:prstGeom>
          <a:noFill/>
          <a:ln/>
        </p:spPr>
        <p:txBody>
          <a:bodyPr wrap="square" lIns="0" tIns="0" rIns="0" bIns="0" rtlCol="0" anchor="ctr"/>
          <a:lstStyle/>
          <a:p>
            <a:pPr marL="0" indent="0" algn="ctr">
              <a:lnSpc>
                <a:spcPct val="100000"/>
              </a:lnSpc>
              <a:buNone/>
            </a:pPr>
            <a:r>
              <a:rPr lang="en-US" sz="4500" b="1" dirty="0">
                <a:solidFill>
                  <a:srgbClr val="000000"/>
                </a:solidFill>
                <a:latin typeface="Arial" pitchFamily="34" charset="0"/>
                <a:ea typeface="Arial" pitchFamily="34" charset="-122"/>
                <a:cs typeface="Arial" pitchFamily="34" charset="-120"/>
              </a:rPr>
              <a:t>Технологический стек и архитектура
</a:t>
            </a:r>
            <a:endParaRPr lang="en-US" sz="4500" dirty="0"/>
          </a:p>
        </p:txBody>
      </p:sp>
      <p:sp>
        <p:nvSpPr>
          <p:cNvPr id="9" name="Text 1"/>
          <p:cNvSpPr txBox="1"/>
          <p:nvPr/>
        </p:nvSpPr>
        <p:spPr>
          <a:xfrm>
            <a:off x="123775" y="9536150"/>
            <a:ext cx="1028700" cy="746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4</a:t>
            </a:r>
            <a:endParaRPr lang="en-US" sz="2200" dirty="0"/>
          </a:p>
        </p:txBody>
      </p:sp>
      <p:sp>
        <p:nvSpPr>
          <p:cNvPr id="10" name="Text 2"/>
          <p:cNvSpPr txBox="1"/>
          <p:nvPr/>
        </p:nvSpPr>
        <p:spPr>
          <a:xfrm>
            <a:off x="962350" y="5582825"/>
            <a:ext cx="2901300" cy="3176400"/>
          </a:xfrm>
          <a:prstGeom prst="rect">
            <a:avLst/>
          </a:prstGeom>
          <a:noFill/>
          <a:ln/>
        </p:spPr>
        <p:txBody>
          <a:bodyPr wrap="square" lIns="0" tIns="0" rIns="0" bIns="0" rtlCol="0" anchor="t"/>
          <a:lstStyle/>
          <a:p>
            <a:pPr marL="0" indent="0" algn="l">
              <a:lnSpc>
                <a:spcPct val="115000"/>
              </a:lnSpc>
              <a:buNone/>
            </a:pPr>
            <a:r>
              <a:rPr lang="en-US" sz="1987" b="1" dirty="0">
                <a:solidFill>
                  <a:srgbClr val="000000"/>
                </a:solidFill>
                <a:latin typeface="Arial" pitchFamily="34" charset="0"/>
                <a:ea typeface="Arial" pitchFamily="34" charset="-122"/>
                <a:cs typeface="Arial" pitchFamily="34" charset="-120"/>
              </a:rPr>
              <a:t>• GridSearchCV
• LinearRegression
• TF-IDF </a:t>
            </a:r>
            <a:r>
              <a:rPr lang="en-US" sz="1987" dirty="0">
                <a:solidFill>
                  <a:srgbClr val="000000"/>
                </a:solidFill>
                <a:latin typeface="Arial" pitchFamily="34" charset="0"/>
                <a:ea typeface="Arial" pitchFamily="34" charset="-122"/>
                <a:cs typeface="Arial" pitchFamily="34" charset="-120"/>
              </a:rPr>
              <a:t>вектор
• Масштабирование и категорирование 
• обучен на </a:t>
            </a:r>
            <a:r>
              <a:rPr lang="en-US" sz="1987" b="1" dirty="0">
                <a:solidFill>
                  <a:srgbClr val="000000"/>
                </a:solidFill>
                <a:latin typeface="Arial" pitchFamily="34" charset="0"/>
                <a:ea typeface="Arial" pitchFamily="34" charset="-122"/>
                <a:cs typeface="Arial" pitchFamily="34" charset="-120"/>
              </a:rPr>
              <a:t>9 798</a:t>
            </a:r>
            <a:r>
              <a:rPr lang="en-US" sz="1987" dirty="0">
                <a:solidFill>
                  <a:srgbClr val="000000"/>
                </a:solidFill>
                <a:latin typeface="Arial" pitchFamily="34" charset="0"/>
                <a:ea typeface="Arial" pitchFamily="34" charset="-122"/>
                <a:cs typeface="Arial" pitchFamily="34" charset="-120"/>
              </a:rPr>
              <a:t> результатах взаимодействия 
</a:t>
            </a:r>
            <a:endParaRPr lang="en-US" sz="1987" dirty="0"/>
          </a:p>
        </p:txBody>
      </p:sp>
      <p:sp>
        <p:nvSpPr>
          <p:cNvPr id="11" name="Text 3"/>
          <p:cNvSpPr txBox="1"/>
          <p:nvPr/>
        </p:nvSpPr>
        <p:spPr>
          <a:xfrm>
            <a:off x="962350" y="4060600"/>
            <a:ext cx="2901300" cy="1173600"/>
          </a:xfrm>
          <a:prstGeom prst="rect">
            <a:avLst/>
          </a:prstGeom>
          <a:noFill/>
          <a:ln/>
        </p:spPr>
        <p:txBody>
          <a:bodyPr wrap="square" lIns="0" tIns="0" rIns="0" bIns="0" rtlCol="0" anchor="ctr"/>
          <a:lstStyle/>
          <a:p>
            <a:pPr marL="0" indent="0" algn="l">
              <a:lnSpc>
                <a:spcPct val="90000"/>
              </a:lnSpc>
              <a:buNone/>
            </a:pPr>
            <a:r>
              <a:rPr lang="en-US" sz="3200" b="1" dirty="0">
                <a:solidFill>
                  <a:srgbClr val="1C3354"/>
                </a:solidFill>
                <a:latin typeface="Arial" pitchFamily="34" charset="0"/>
                <a:ea typeface="Arial" pitchFamily="34" charset="-122"/>
                <a:cs typeface="Arial" pitchFamily="34" charset="-120"/>
              </a:rPr>
              <a:t>Машинное обучение
</a:t>
            </a:r>
            <a:endParaRPr lang="en-US" sz="3200" dirty="0"/>
          </a:p>
        </p:txBody>
      </p:sp>
      <p:sp>
        <p:nvSpPr>
          <p:cNvPr id="12" name="Text 4"/>
          <p:cNvSpPr txBox="1"/>
          <p:nvPr/>
        </p:nvSpPr>
        <p:spPr>
          <a:xfrm>
            <a:off x="4327850" y="5582825"/>
            <a:ext cx="2901300" cy="3176400"/>
          </a:xfrm>
          <a:prstGeom prst="rect">
            <a:avLst/>
          </a:prstGeom>
          <a:noFill/>
          <a:ln/>
        </p:spPr>
        <p:txBody>
          <a:bodyPr wrap="square" lIns="0" tIns="0" rIns="0" bIns="0" rtlCol="0" anchor="t"/>
          <a:lstStyle/>
          <a:p>
            <a:pPr marL="0" indent="0" algn="l">
              <a:lnSpc>
                <a:spcPct val="115000"/>
              </a:lnSpc>
              <a:buNone/>
            </a:pPr>
            <a:r>
              <a:rPr lang="en-US" sz="2301" b="1" dirty="0">
                <a:solidFill>
                  <a:srgbClr val="000000"/>
                </a:solidFill>
                <a:latin typeface="Arial" pitchFamily="34" charset="0"/>
                <a:ea typeface="Arial" pitchFamily="34" charset="-122"/>
                <a:cs typeface="Arial" pitchFamily="34" charset="-120"/>
              </a:rPr>
              <a:t>• FastAPI на Python </a:t>
            </a:r>
            <a:r>
              <a:rPr lang="en-US" sz="1918" dirty="0">
                <a:solidFill>
                  <a:srgbClr val="000000"/>
                </a:solidFill>
                <a:latin typeface="Arial" pitchFamily="34" charset="0"/>
                <a:ea typeface="Arial" pitchFamily="34" charset="-122"/>
                <a:cs typeface="Arial" pitchFamily="34" charset="-120"/>
              </a:rPr>
              <a:t>обеспечивает высокую производительность и масштабируемость приложения.
</a:t>
            </a:r>
            <a:endParaRPr lang="en-US" sz="2301" dirty="0"/>
          </a:p>
        </p:txBody>
      </p:sp>
      <p:sp>
        <p:nvSpPr>
          <p:cNvPr id="13" name="Text 5"/>
          <p:cNvSpPr txBox="1"/>
          <p:nvPr/>
        </p:nvSpPr>
        <p:spPr>
          <a:xfrm>
            <a:off x="4327850" y="4060600"/>
            <a:ext cx="2901300" cy="1173600"/>
          </a:xfrm>
          <a:prstGeom prst="rect">
            <a:avLst/>
          </a:prstGeom>
          <a:noFill/>
          <a:ln/>
        </p:spPr>
        <p:txBody>
          <a:bodyPr wrap="square" lIns="0" tIns="0" rIns="0" bIns="0" rtlCol="0" anchor="ctr"/>
          <a:lstStyle/>
          <a:p>
            <a:pPr marL="0" indent="0" algn="l">
              <a:lnSpc>
                <a:spcPct val="90000"/>
              </a:lnSpc>
              <a:buNone/>
            </a:pPr>
            <a:r>
              <a:rPr lang="en-US" sz="3200" b="1" dirty="0">
                <a:solidFill>
                  <a:srgbClr val="1C3354"/>
                </a:solidFill>
                <a:latin typeface="Arial" pitchFamily="34" charset="0"/>
                <a:ea typeface="Arial" pitchFamily="34" charset="-122"/>
                <a:cs typeface="Arial" pitchFamily="34" charset="-120"/>
              </a:rPr>
              <a:t>Backend
</a:t>
            </a:r>
            <a:endParaRPr lang="en-US" sz="3200" dirty="0"/>
          </a:p>
        </p:txBody>
      </p:sp>
      <p:sp>
        <p:nvSpPr>
          <p:cNvPr id="14" name="Text 6"/>
          <p:cNvSpPr txBox="1"/>
          <p:nvPr/>
        </p:nvSpPr>
        <p:spPr>
          <a:xfrm>
            <a:off x="7693350" y="5582825"/>
            <a:ext cx="2901300" cy="3176400"/>
          </a:xfrm>
          <a:prstGeom prst="rect">
            <a:avLst/>
          </a:prstGeom>
          <a:noFill/>
          <a:ln/>
        </p:spPr>
        <p:txBody>
          <a:bodyPr wrap="square" lIns="0" tIns="0" rIns="0" bIns="0" rtlCol="0" anchor="t"/>
          <a:lstStyle/>
          <a:p>
            <a:pPr marL="0" indent="0" algn="l">
              <a:lnSpc>
                <a:spcPct val="115000"/>
              </a:lnSpc>
              <a:buNone/>
            </a:pPr>
            <a:r>
              <a:rPr lang="en-US" sz="2500" b="1" dirty="0">
                <a:solidFill>
                  <a:srgbClr val="000000"/>
                </a:solidFill>
                <a:latin typeface="Arial" pitchFamily="34" charset="0"/>
                <a:ea typeface="Arial" pitchFamily="34" charset="-122"/>
                <a:cs typeface="Arial" pitchFamily="34" charset="-120"/>
              </a:rPr>
              <a:t>PostgreSQL </a:t>
            </a:r>
            <a:r>
              <a:rPr lang="en-US" sz="2045" dirty="0">
                <a:solidFill>
                  <a:srgbClr val="000000"/>
                </a:solidFill>
                <a:latin typeface="Arial" pitchFamily="34" charset="0"/>
                <a:ea typeface="Arial" pitchFamily="34" charset="-122"/>
                <a:cs typeface="Arial" pitchFamily="34" charset="-120"/>
              </a:rPr>
              <a:t>отвечает за надежное хранение экзаменов и результатов для быстрой доступности.
</a:t>
            </a:r>
            <a:endParaRPr lang="en-US" sz="2500" dirty="0"/>
          </a:p>
        </p:txBody>
      </p:sp>
      <p:sp>
        <p:nvSpPr>
          <p:cNvPr id="15" name="Text 7"/>
          <p:cNvSpPr txBox="1"/>
          <p:nvPr/>
        </p:nvSpPr>
        <p:spPr>
          <a:xfrm>
            <a:off x="7693350" y="4060600"/>
            <a:ext cx="2901300" cy="1173600"/>
          </a:xfrm>
          <a:prstGeom prst="rect">
            <a:avLst/>
          </a:prstGeom>
          <a:noFill/>
          <a:ln/>
        </p:spPr>
        <p:txBody>
          <a:bodyPr wrap="square" lIns="0" tIns="0" rIns="0" bIns="0" rtlCol="0" anchor="ctr"/>
          <a:lstStyle/>
          <a:p>
            <a:pPr marL="0" indent="0" algn="l">
              <a:lnSpc>
                <a:spcPct val="90000"/>
              </a:lnSpc>
              <a:buNone/>
            </a:pPr>
            <a:r>
              <a:rPr lang="en-US" sz="3200" b="1" dirty="0">
                <a:solidFill>
                  <a:srgbClr val="1C3354"/>
                </a:solidFill>
                <a:latin typeface="Arial" pitchFamily="34" charset="0"/>
                <a:ea typeface="Arial" pitchFamily="34" charset="-122"/>
                <a:cs typeface="Arial" pitchFamily="34" charset="-120"/>
              </a:rPr>
              <a:t>Хранение данных
</a:t>
            </a:r>
            <a:endParaRPr lang="en-US" sz="3200" dirty="0"/>
          </a:p>
        </p:txBody>
      </p:sp>
      <p:sp>
        <p:nvSpPr>
          <p:cNvPr id="16" name="Text 8"/>
          <p:cNvSpPr txBox="1"/>
          <p:nvPr/>
        </p:nvSpPr>
        <p:spPr>
          <a:xfrm>
            <a:off x="11058850" y="5582825"/>
            <a:ext cx="2901300" cy="3176400"/>
          </a:xfrm>
          <a:prstGeom prst="rect">
            <a:avLst/>
          </a:prstGeom>
          <a:noFill/>
          <a:ln/>
        </p:spPr>
        <p:txBody>
          <a:bodyPr wrap="square" lIns="0" tIns="0" rIns="0" bIns="0" rtlCol="0" anchor="t"/>
          <a:lstStyle/>
          <a:p>
            <a:pPr marL="0" indent="0" algn="l">
              <a:lnSpc>
                <a:spcPct val="115000"/>
              </a:lnSpc>
              <a:buNone/>
            </a:pPr>
            <a:r>
              <a:rPr lang="en-US" sz="2500" b="1" dirty="0">
                <a:solidFill>
                  <a:srgbClr val="000000"/>
                </a:solidFill>
                <a:latin typeface="Arial" pitchFamily="34" charset="0"/>
                <a:ea typeface="Arial" pitchFamily="34" charset="-122"/>
                <a:cs typeface="Arial" pitchFamily="34" charset="-120"/>
              </a:rPr>
              <a:t>Docker</a:t>
            </a:r>
            <a:r>
              <a:rPr lang="en-US" sz="2500" dirty="0">
                <a:solidFill>
                  <a:srgbClr val="000000"/>
                </a:solidFill>
                <a:latin typeface="Arial" pitchFamily="34" charset="0"/>
                <a:ea typeface="Arial" pitchFamily="34" charset="-122"/>
                <a:cs typeface="Arial" pitchFamily="34" charset="-120"/>
              </a:rPr>
              <a:t> 
</a:t>
            </a:r>
            <a:r>
              <a:rPr lang="en-US" sz="2045" dirty="0">
                <a:solidFill>
                  <a:srgbClr val="000000"/>
                </a:solidFill>
                <a:latin typeface="Arial" pitchFamily="34" charset="0"/>
                <a:ea typeface="Arial" pitchFamily="34" charset="-122"/>
                <a:cs typeface="Arial" pitchFamily="34" charset="-120"/>
              </a:rPr>
              <a:t>упрощает развертывание и управление серверной частью приложения в разных средах.
</a:t>
            </a:r>
            <a:endParaRPr lang="en-US" sz="2500" dirty="0"/>
          </a:p>
        </p:txBody>
      </p:sp>
      <p:sp>
        <p:nvSpPr>
          <p:cNvPr id="17" name="Text 9"/>
          <p:cNvSpPr txBox="1"/>
          <p:nvPr/>
        </p:nvSpPr>
        <p:spPr>
          <a:xfrm>
            <a:off x="11058850" y="4060600"/>
            <a:ext cx="2901300" cy="1173600"/>
          </a:xfrm>
          <a:prstGeom prst="rect">
            <a:avLst/>
          </a:prstGeom>
          <a:noFill/>
          <a:ln/>
        </p:spPr>
        <p:txBody>
          <a:bodyPr wrap="square" lIns="0" tIns="0" rIns="0" bIns="0" rtlCol="0" anchor="ctr"/>
          <a:lstStyle/>
          <a:p>
            <a:pPr marL="0" indent="0" algn="l">
              <a:lnSpc>
                <a:spcPct val="90000"/>
              </a:lnSpc>
              <a:buNone/>
            </a:pPr>
            <a:r>
              <a:rPr lang="en-US" sz="3200" b="1" dirty="0">
                <a:solidFill>
                  <a:srgbClr val="1C3354"/>
                </a:solidFill>
                <a:latin typeface="Arial" pitchFamily="34" charset="0"/>
                <a:ea typeface="Arial" pitchFamily="34" charset="-122"/>
                <a:cs typeface="Arial" pitchFamily="34" charset="-120"/>
              </a:rPr>
              <a:t>Контейнеризация
</a:t>
            </a:r>
            <a:endParaRPr lang="en-US" sz="3200" dirty="0"/>
          </a:p>
        </p:txBody>
      </p:sp>
      <p:sp>
        <p:nvSpPr>
          <p:cNvPr id="18" name="Text 10"/>
          <p:cNvSpPr txBox="1"/>
          <p:nvPr/>
        </p:nvSpPr>
        <p:spPr>
          <a:xfrm>
            <a:off x="14424350" y="5582825"/>
            <a:ext cx="2901300" cy="3176400"/>
          </a:xfrm>
          <a:prstGeom prst="rect">
            <a:avLst/>
          </a:prstGeom>
          <a:noFill/>
          <a:ln/>
        </p:spPr>
        <p:txBody>
          <a:bodyPr wrap="square" lIns="0" tIns="0" rIns="0" bIns="0" rtlCol="0" anchor="t"/>
          <a:lstStyle/>
          <a:p>
            <a:pPr marL="0" indent="0" algn="l">
              <a:lnSpc>
                <a:spcPct val="115000"/>
              </a:lnSpc>
              <a:buNone/>
            </a:pPr>
            <a:r>
              <a:rPr lang="en-US" sz="2173" dirty="0">
                <a:solidFill>
                  <a:srgbClr val="000000"/>
                </a:solidFill>
                <a:latin typeface="Arial" pitchFamily="34" charset="0"/>
                <a:ea typeface="Arial" pitchFamily="34" charset="-122"/>
                <a:cs typeface="Arial" pitchFamily="34" charset="-120"/>
              </a:rPr>
              <a:t>• Адаптивный дизайн на </a:t>
            </a:r>
            <a:r>
              <a:rPr lang="en-US" sz="2173" b="1" dirty="0">
                <a:solidFill>
                  <a:srgbClr val="000000"/>
                </a:solidFill>
                <a:latin typeface="Arial" pitchFamily="34" charset="0"/>
                <a:ea typeface="Arial" pitchFamily="34" charset="-122"/>
                <a:cs typeface="Arial" pitchFamily="34" charset="-120"/>
              </a:rPr>
              <a:t>Bootstrap 5
</a:t>
            </a:r>
            <a:r>
              <a:rPr lang="en-US" sz="2173" dirty="0">
                <a:solidFill>
                  <a:srgbClr val="000000"/>
                </a:solidFill>
                <a:latin typeface="Arial" pitchFamily="34" charset="0"/>
                <a:ea typeface="Arial" pitchFamily="34" charset="-122"/>
                <a:cs typeface="Arial" pitchFamily="34" charset="-120"/>
              </a:rPr>
              <a:t>• интерактивность на </a:t>
            </a:r>
            <a:r>
              <a:rPr lang="en-US" sz="2173" b="1" dirty="0">
                <a:solidFill>
                  <a:srgbClr val="000000"/>
                </a:solidFill>
                <a:latin typeface="Arial" pitchFamily="34" charset="0"/>
                <a:ea typeface="Arial" pitchFamily="34" charset="-122"/>
                <a:cs typeface="Arial" pitchFamily="34" charset="-120"/>
              </a:rPr>
              <a:t>JavaScript 
</a:t>
            </a:r>
            <a:endParaRPr lang="en-US" sz="2173" dirty="0"/>
          </a:p>
        </p:txBody>
      </p:sp>
      <p:sp>
        <p:nvSpPr>
          <p:cNvPr id="19" name="Text 11"/>
          <p:cNvSpPr txBox="1"/>
          <p:nvPr/>
        </p:nvSpPr>
        <p:spPr>
          <a:xfrm>
            <a:off x="14424350" y="4060600"/>
            <a:ext cx="2901300" cy="1173600"/>
          </a:xfrm>
          <a:prstGeom prst="rect">
            <a:avLst/>
          </a:prstGeom>
          <a:noFill/>
          <a:ln/>
        </p:spPr>
        <p:txBody>
          <a:bodyPr wrap="square" lIns="0" tIns="0" rIns="0" bIns="0" rtlCol="0" anchor="ctr"/>
          <a:lstStyle/>
          <a:p>
            <a:pPr marL="0" indent="0" algn="l">
              <a:lnSpc>
                <a:spcPct val="90000"/>
              </a:lnSpc>
              <a:buNone/>
            </a:pPr>
            <a:r>
              <a:rPr lang="en-US" sz="3200" b="1" dirty="0">
                <a:solidFill>
                  <a:srgbClr val="1C3354"/>
                </a:solidFill>
                <a:latin typeface="Arial" pitchFamily="34" charset="0"/>
                <a:ea typeface="Arial" pitchFamily="34" charset="-122"/>
                <a:cs typeface="Arial" pitchFamily="34" charset="-120"/>
              </a:rPr>
              <a:t>Frontend
</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54591" y="0"/>
            <a:ext cx="18397182" cy="10287000"/>
          </a:xfrm>
          <a:prstGeom prst="rect">
            <a:avLst/>
          </a:prstGeom>
        </p:spPr>
      </p:pic>
      <p:sp>
        <p:nvSpPr>
          <p:cNvPr id="4" name="Text 0"/>
          <p:cNvSpPr txBox="1"/>
          <p:nvPr/>
        </p:nvSpPr>
        <p:spPr>
          <a:xfrm>
            <a:off x="17242500" y="9536150"/>
            <a:ext cx="924600" cy="1085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2</a:t>
            </a:r>
            <a:endParaRPr lang="en-US" sz="2200" dirty="0"/>
          </a:p>
        </p:txBody>
      </p:sp>
      <p:sp>
        <p:nvSpPr>
          <p:cNvPr id="5" name="Text 1"/>
          <p:cNvSpPr txBox="1"/>
          <p:nvPr/>
        </p:nvSpPr>
        <p:spPr>
          <a:xfrm>
            <a:off x="805952" y="3013100"/>
            <a:ext cx="15148281" cy="6025500"/>
          </a:xfrm>
          <a:prstGeom prst="rect">
            <a:avLst/>
          </a:prstGeom>
          <a:noFill/>
          <a:ln/>
        </p:spPr>
        <p:txBody>
          <a:bodyPr wrap="square" lIns="0" tIns="0" rIns="0" bIns="0" rtlCol="0" anchor="ctr"/>
          <a:lstStyle/>
          <a:p>
            <a:pPr marL="514350" indent="-514350" algn="l">
              <a:lnSpc>
                <a:spcPct val="100000"/>
              </a:lnSpc>
              <a:buAutoNum type="arabicPeriod"/>
            </a:pPr>
            <a:r>
              <a:rPr lang="ru-RU" sz="3200" dirty="0"/>
              <a:t>Загрузка файла </a:t>
            </a:r>
          </a:p>
          <a:p>
            <a:pPr marL="514350" indent="-514350" algn="l">
              <a:lnSpc>
                <a:spcPct val="100000"/>
              </a:lnSpc>
              <a:buAutoNum type="arabicPeriod"/>
            </a:pPr>
            <a:r>
              <a:rPr lang="ru-RU" sz="3200" dirty="0"/>
              <a:t>Скачивание аудиофайлов и измерение их длины</a:t>
            </a:r>
          </a:p>
          <a:p>
            <a:pPr marL="514350" indent="-514350" algn="l">
              <a:lnSpc>
                <a:spcPct val="100000"/>
              </a:lnSpc>
              <a:buAutoNum type="arabicPeriod"/>
            </a:pPr>
            <a:r>
              <a:rPr lang="ru-RU" sz="3200" dirty="0"/>
              <a:t>Очистка текста ответа от лишних символов</a:t>
            </a:r>
          </a:p>
          <a:p>
            <a:pPr marL="514350" indent="-514350" algn="l">
              <a:lnSpc>
                <a:spcPct val="100000"/>
              </a:lnSpc>
              <a:buAutoNum type="arabicPeriod"/>
            </a:pPr>
            <a:r>
              <a:rPr lang="ru-RU" sz="3200" dirty="0"/>
              <a:t>Удаление пустых строк</a:t>
            </a:r>
          </a:p>
          <a:p>
            <a:pPr marL="514350" indent="-514350" algn="l">
              <a:lnSpc>
                <a:spcPct val="100000"/>
              </a:lnSpc>
              <a:buAutoNum type="arabicPeriod"/>
            </a:pPr>
            <a:r>
              <a:rPr lang="ru-RU" sz="3200" dirty="0"/>
              <a:t>Создание порядка 40 новых признаков</a:t>
            </a:r>
          </a:p>
          <a:p>
            <a:pPr algn="l">
              <a:lnSpc>
                <a:spcPct val="100000"/>
              </a:lnSpc>
            </a:pPr>
            <a:r>
              <a:rPr lang="ru-RU" sz="3200" dirty="0"/>
              <a:t>       - объем ответа</a:t>
            </a:r>
          </a:p>
          <a:p>
            <a:pPr algn="l">
              <a:lnSpc>
                <a:spcPct val="100000"/>
              </a:lnSpc>
            </a:pPr>
            <a:r>
              <a:rPr lang="ru-RU" sz="3200" dirty="0"/>
              <a:t>       - скорость речи</a:t>
            </a:r>
          </a:p>
          <a:p>
            <a:pPr algn="l">
              <a:lnSpc>
                <a:spcPct val="100000"/>
              </a:lnSpc>
            </a:pPr>
            <a:r>
              <a:rPr lang="ru-RU" sz="3200" dirty="0"/>
              <a:t>       - Лексическое разнообразие (количество уникальных слов)</a:t>
            </a:r>
          </a:p>
          <a:p>
            <a:pPr algn="l">
              <a:lnSpc>
                <a:spcPct val="100000"/>
              </a:lnSpc>
            </a:pPr>
            <a:r>
              <a:rPr lang="ru-RU" sz="3200" dirty="0"/>
              <a:t>       - Различные части речи и их соотношение</a:t>
            </a:r>
          </a:p>
          <a:p>
            <a:pPr algn="l">
              <a:lnSpc>
                <a:spcPct val="100000"/>
              </a:lnSpc>
            </a:pPr>
            <a:r>
              <a:rPr lang="ru-RU" sz="3200" dirty="0"/>
              <a:t>       - коэффициенты сложности речи  </a:t>
            </a:r>
          </a:p>
          <a:p>
            <a:pPr algn="l">
              <a:lnSpc>
                <a:spcPct val="100000"/>
              </a:lnSpc>
            </a:pPr>
            <a:r>
              <a:rPr lang="ru-RU" sz="3200" dirty="0"/>
              <a:t>       - и т.д.</a:t>
            </a:r>
          </a:p>
          <a:p>
            <a:pPr algn="l">
              <a:lnSpc>
                <a:spcPct val="100000"/>
              </a:lnSpc>
            </a:pPr>
            <a:r>
              <a:rPr lang="ru-RU" sz="3200" dirty="0"/>
              <a:t>5. </a:t>
            </a:r>
            <a:r>
              <a:rPr lang="ru-RU" sz="3200" dirty="0" err="1"/>
              <a:t>Векторизирование</a:t>
            </a:r>
            <a:r>
              <a:rPr lang="ru-RU" sz="3200" dirty="0"/>
              <a:t> текста (создает еще </a:t>
            </a:r>
            <a:r>
              <a:rPr lang="en-US" sz="3200" dirty="0"/>
              <a:t>&gt;</a:t>
            </a:r>
            <a:r>
              <a:rPr lang="ru-RU" sz="3200" dirty="0"/>
              <a:t>1500</a:t>
            </a:r>
            <a:r>
              <a:rPr lang="en-US" sz="3200" dirty="0"/>
              <a:t> </a:t>
            </a:r>
            <a:r>
              <a:rPr lang="ru-RU" sz="3200" dirty="0"/>
              <a:t>признаков) </a:t>
            </a:r>
          </a:p>
          <a:p>
            <a:pPr algn="l">
              <a:lnSpc>
                <a:spcPct val="100000"/>
              </a:lnSpc>
            </a:pPr>
            <a:r>
              <a:rPr lang="ru-RU" sz="3200" dirty="0"/>
              <a:t>6. Определение наиболее коррелирующих признаков (</a:t>
            </a:r>
            <a:r>
              <a:rPr lang="ru-RU" sz="3200"/>
              <a:t>от 0.4 до 0.8)</a:t>
            </a:r>
            <a:endParaRPr lang="ru-RU" sz="3200" dirty="0"/>
          </a:p>
          <a:p>
            <a:pPr algn="l">
              <a:lnSpc>
                <a:spcPct val="100000"/>
              </a:lnSpc>
            </a:pPr>
            <a:r>
              <a:rPr lang="ru-RU" sz="3200" dirty="0"/>
              <a:t>7. Создание </a:t>
            </a:r>
            <a:r>
              <a:rPr lang="ru-RU" sz="3200" dirty="0" err="1"/>
              <a:t>пайплайна</a:t>
            </a:r>
            <a:r>
              <a:rPr lang="ru-RU" sz="3200" dirty="0"/>
              <a:t>, сетки с различными моделями, </a:t>
            </a:r>
            <a:r>
              <a:rPr lang="ru-RU" sz="3200" dirty="0" err="1"/>
              <a:t>скалерами</a:t>
            </a:r>
            <a:endParaRPr lang="ru-RU" sz="3200" dirty="0"/>
          </a:p>
          <a:p>
            <a:pPr algn="l">
              <a:lnSpc>
                <a:spcPct val="100000"/>
              </a:lnSpc>
            </a:pPr>
            <a:r>
              <a:rPr lang="ru-RU" sz="3200" dirty="0"/>
              <a:t>8. Выставление оценок за ответы</a:t>
            </a:r>
            <a:endParaRPr lang="en-US" sz="3200" dirty="0"/>
          </a:p>
        </p:txBody>
      </p:sp>
      <p:sp>
        <p:nvSpPr>
          <p:cNvPr id="6" name="Text 2"/>
          <p:cNvSpPr txBox="1"/>
          <p:nvPr/>
        </p:nvSpPr>
        <p:spPr>
          <a:xfrm>
            <a:off x="519350" y="468400"/>
            <a:ext cx="14526600" cy="1296300"/>
          </a:xfrm>
          <a:prstGeom prst="rect">
            <a:avLst/>
          </a:prstGeom>
          <a:noFill/>
          <a:ln/>
        </p:spPr>
        <p:txBody>
          <a:bodyPr wrap="square" lIns="0" tIns="0" rIns="0" bIns="0" rtlCol="0" anchor="ctr"/>
          <a:lstStyle/>
          <a:p>
            <a:pPr marL="0" indent="0" algn="l">
              <a:lnSpc>
                <a:spcPct val="100000"/>
              </a:lnSpc>
              <a:buNone/>
            </a:pPr>
            <a:r>
              <a:rPr lang="ru-RU" sz="5000" b="1" dirty="0">
                <a:solidFill>
                  <a:srgbClr val="FFFFFF"/>
                </a:solidFill>
                <a:latin typeface="Arial" pitchFamily="34" charset="0"/>
                <a:ea typeface="Arial" pitchFamily="34" charset="-122"/>
                <a:cs typeface="Arial" pitchFamily="34" charset="-120"/>
              </a:rPr>
              <a:t>Этапы обработки</a:t>
            </a:r>
            <a:endParaRPr lang="en-US" sz="5000" dirty="0"/>
          </a:p>
        </p:txBody>
      </p:sp>
      <p:sp>
        <p:nvSpPr>
          <p:cNvPr id="7" name="TextBox 6">
            <a:extLst>
              <a:ext uri="{FF2B5EF4-FFF2-40B4-BE49-F238E27FC236}">
                <a16:creationId xmlns:a16="http://schemas.microsoft.com/office/drawing/2014/main" id="{61CD3DE9-C7FD-4F34-A13E-1F6AFCF6DB19}"/>
              </a:ext>
            </a:extLst>
          </p:cNvPr>
          <p:cNvSpPr txBox="1"/>
          <p:nvPr/>
        </p:nvSpPr>
        <p:spPr>
          <a:xfrm>
            <a:off x="12970147" y="9212984"/>
            <a:ext cx="4734653" cy="646331"/>
          </a:xfrm>
          <a:prstGeom prst="rect">
            <a:avLst/>
          </a:prstGeom>
          <a:noFill/>
        </p:spPr>
        <p:txBody>
          <a:bodyPr wrap="square" rtlCol="0">
            <a:spAutoFit/>
          </a:bodyPr>
          <a:lstStyle/>
          <a:p>
            <a:r>
              <a:rPr lang="en-US" sz="3600" dirty="0"/>
              <a:t>http://vds.spb.su:8000</a:t>
            </a:r>
            <a:endParaRPr lang="ru-RU" sz="3600" dirty="0"/>
          </a:p>
        </p:txBody>
      </p:sp>
    </p:spTree>
    <p:extLst>
      <p:ext uri="{BB962C8B-B14F-4D97-AF65-F5344CB8AC3E}">
        <p14:creationId xmlns:p14="http://schemas.microsoft.com/office/powerpoint/2010/main" val="194081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54591" y="0"/>
            <a:ext cx="18397182" cy="10287000"/>
          </a:xfrm>
          <a:prstGeom prst="rect">
            <a:avLst/>
          </a:prstGeom>
        </p:spPr>
      </p:pic>
      <p:sp>
        <p:nvSpPr>
          <p:cNvPr id="4" name="Text 0"/>
          <p:cNvSpPr txBox="1"/>
          <p:nvPr/>
        </p:nvSpPr>
        <p:spPr>
          <a:xfrm>
            <a:off x="17242500" y="9536150"/>
            <a:ext cx="924600" cy="1085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2</a:t>
            </a:r>
            <a:endParaRPr lang="en-US" sz="2200" dirty="0"/>
          </a:p>
        </p:txBody>
      </p:sp>
      <p:sp>
        <p:nvSpPr>
          <p:cNvPr id="5" name="Text 1"/>
          <p:cNvSpPr txBox="1"/>
          <p:nvPr/>
        </p:nvSpPr>
        <p:spPr>
          <a:xfrm>
            <a:off x="685052" y="2759799"/>
            <a:ext cx="17482048" cy="6025500"/>
          </a:xfrm>
          <a:prstGeom prst="rect">
            <a:avLst/>
          </a:prstGeom>
          <a:noFill/>
          <a:ln/>
        </p:spPr>
        <p:txBody>
          <a:bodyPr wrap="square" lIns="0" tIns="0" rIns="0" bIns="0" rtlCol="0" anchor="ctr"/>
          <a:lstStyle/>
          <a:p>
            <a:pPr marL="514350" indent="-514350" algn="l">
              <a:lnSpc>
                <a:spcPct val="100000"/>
              </a:lnSpc>
              <a:buAutoNum type="arabicPeriod"/>
            </a:pPr>
            <a:r>
              <a:rPr lang="en-US" sz="3200" b="1" dirty="0"/>
              <a:t>RegExp</a:t>
            </a:r>
            <a:r>
              <a:rPr lang="en-US" sz="3200" dirty="0"/>
              <a:t> - </a:t>
            </a:r>
            <a:r>
              <a:rPr lang="ru-RU" sz="3200" dirty="0"/>
              <a:t>регулярные выражения для очистки от лишних символов</a:t>
            </a:r>
          </a:p>
          <a:p>
            <a:pPr marL="514350" indent="-514350" algn="l">
              <a:lnSpc>
                <a:spcPct val="100000"/>
              </a:lnSpc>
              <a:buAutoNum type="arabicPeriod"/>
            </a:pPr>
            <a:r>
              <a:rPr lang="en-US" sz="3200" b="1" dirty="0"/>
              <a:t>Requests</a:t>
            </a:r>
            <a:r>
              <a:rPr lang="en-US" sz="3200" dirty="0"/>
              <a:t> </a:t>
            </a:r>
            <a:r>
              <a:rPr lang="ru-RU" sz="3200" dirty="0"/>
              <a:t>- скачивание файлов</a:t>
            </a:r>
          </a:p>
          <a:p>
            <a:pPr marL="514350" indent="-514350" algn="l">
              <a:lnSpc>
                <a:spcPct val="100000"/>
              </a:lnSpc>
              <a:buAutoNum type="arabicPeriod"/>
            </a:pPr>
            <a:r>
              <a:rPr lang="en-US" sz="3200" b="1" dirty="0"/>
              <a:t>Mutagen</a:t>
            </a:r>
            <a:r>
              <a:rPr lang="en-US" sz="3200" dirty="0"/>
              <a:t> - </a:t>
            </a:r>
            <a:r>
              <a:rPr lang="ru-RU" sz="3200" dirty="0"/>
              <a:t>работа с </a:t>
            </a:r>
            <a:r>
              <a:rPr lang="en-US" sz="3200" dirty="0"/>
              <a:t>MP</a:t>
            </a:r>
            <a:r>
              <a:rPr lang="ru-RU" sz="3200" dirty="0"/>
              <a:t>3 – определение хронометража файла</a:t>
            </a:r>
          </a:p>
          <a:p>
            <a:pPr marL="514350" indent="-514350" algn="l">
              <a:lnSpc>
                <a:spcPct val="100000"/>
              </a:lnSpc>
              <a:buAutoNum type="arabicPeriod"/>
            </a:pPr>
            <a:r>
              <a:rPr lang="en-US" sz="3200" b="1" dirty="0"/>
              <a:t>Morphy3</a:t>
            </a:r>
            <a:r>
              <a:rPr lang="ru-RU" sz="3200" dirty="0"/>
              <a:t> - лексический анализ</a:t>
            </a:r>
          </a:p>
          <a:p>
            <a:pPr marL="514350" indent="-514350" algn="l">
              <a:lnSpc>
                <a:spcPct val="100000"/>
              </a:lnSpc>
              <a:buAutoNum type="arabicPeriod"/>
            </a:pPr>
            <a:r>
              <a:rPr lang="en-US" sz="3200" b="1" dirty="0"/>
              <a:t>Feature Engineering </a:t>
            </a:r>
            <a:r>
              <a:rPr lang="ru-RU" sz="3200" dirty="0"/>
              <a:t>признаков вручную</a:t>
            </a:r>
          </a:p>
          <a:p>
            <a:pPr marL="514350" indent="-514350" algn="l">
              <a:lnSpc>
                <a:spcPct val="100000"/>
              </a:lnSpc>
              <a:buAutoNum type="arabicPeriod" startAt="6"/>
            </a:pPr>
            <a:r>
              <a:rPr lang="en-US" sz="3200" b="1" dirty="0"/>
              <a:t>TF-IDF</a:t>
            </a:r>
            <a:r>
              <a:rPr lang="en-US" sz="3200" dirty="0"/>
              <a:t> - </a:t>
            </a:r>
            <a:r>
              <a:rPr lang="ru-RU" sz="3200" dirty="0" err="1"/>
              <a:t>Векторизирование</a:t>
            </a:r>
            <a:r>
              <a:rPr lang="ru-RU" sz="3200" dirty="0"/>
              <a:t> текста ответа (создает еще </a:t>
            </a:r>
            <a:r>
              <a:rPr lang="en-US" sz="3200" dirty="0"/>
              <a:t>&gt;</a:t>
            </a:r>
            <a:r>
              <a:rPr lang="ru-RU" sz="3200" dirty="0"/>
              <a:t>1500</a:t>
            </a:r>
            <a:r>
              <a:rPr lang="en-US" sz="3200" dirty="0"/>
              <a:t> </a:t>
            </a:r>
            <a:r>
              <a:rPr lang="ru-RU" sz="3200" dirty="0"/>
              <a:t>признаков) </a:t>
            </a:r>
          </a:p>
          <a:p>
            <a:pPr marL="514350" indent="-514350" algn="l">
              <a:lnSpc>
                <a:spcPct val="100000"/>
              </a:lnSpc>
              <a:buAutoNum type="arabicPeriod" startAt="6"/>
            </a:pPr>
            <a:r>
              <a:rPr lang="ru-RU" sz="3200" b="1" dirty="0"/>
              <a:t>Корреляционная матрица</a:t>
            </a:r>
          </a:p>
          <a:p>
            <a:pPr marL="514350" indent="-514350" algn="l">
              <a:lnSpc>
                <a:spcPct val="100000"/>
              </a:lnSpc>
              <a:buAutoNum type="arabicPeriod" startAt="6"/>
            </a:pPr>
            <a:r>
              <a:rPr lang="en-US" sz="3200" b="1" dirty="0" err="1"/>
              <a:t>SelectKBest</a:t>
            </a:r>
            <a:r>
              <a:rPr lang="en-US" sz="3200" dirty="0"/>
              <a:t> – </a:t>
            </a:r>
            <a:r>
              <a:rPr lang="ru-RU" sz="3200" dirty="0"/>
              <a:t>выбор лучших признаков</a:t>
            </a:r>
          </a:p>
          <a:p>
            <a:pPr marL="514350" indent="-514350" algn="l">
              <a:lnSpc>
                <a:spcPct val="100000"/>
              </a:lnSpc>
              <a:buAutoNum type="arabicPeriod" startAt="6"/>
            </a:pPr>
            <a:r>
              <a:rPr lang="ru-RU" sz="3200" b="1" dirty="0" err="1"/>
              <a:t>Скалеры</a:t>
            </a:r>
            <a:r>
              <a:rPr lang="ru-RU" sz="3200" dirty="0"/>
              <a:t>: </a:t>
            </a:r>
            <a:r>
              <a:rPr lang="en-US" sz="3200" dirty="0"/>
              <a:t>[</a:t>
            </a:r>
            <a:r>
              <a:rPr lang="en-US" sz="3200" dirty="0" err="1"/>
              <a:t>StandardScaler</a:t>
            </a:r>
            <a:r>
              <a:rPr lang="ru-RU" sz="3200" dirty="0"/>
              <a:t>, </a:t>
            </a:r>
            <a:r>
              <a:rPr lang="en-US" sz="3200" dirty="0" err="1"/>
              <a:t>MaxAbsScaler</a:t>
            </a:r>
            <a:r>
              <a:rPr lang="en-US" sz="3200" dirty="0"/>
              <a:t>, </a:t>
            </a:r>
            <a:r>
              <a:rPr lang="en-US" sz="3200" dirty="0" err="1"/>
              <a:t>RobustScaler</a:t>
            </a:r>
            <a:r>
              <a:rPr lang="en-US" sz="3200" dirty="0"/>
              <a:t>]</a:t>
            </a:r>
            <a:endParaRPr lang="ru-RU" sz="3200" dirty="0"/>
          </a:p>
          <a:p>
            <a:pPr marL="514350" indent="-514350" algn="l">
              <a:lnSpc>
                <a:spcPct val="100000"/>
              </a:lnSpc>
              <a:buAutoNum type="arabicPeriod" startAt="6"/>
            </a:pPr>
            <a:r>
              <a:rPr lang="ru-RU" sz="3200" b="1" dirty="0"/>
              <a:t>Категорирование</a:t>
            </a:r>
            <a:r>
              <a:rPr lang="ru-RU" sz="3200" dirty="0"/>
              <a:t>: </a:t>
            </a:r>
            <a:r>
              <a:rPr lang="en-US" sz="3200" dirty="0"/>
              <a:t>[</a:t>
            </a:r>
            <a:r>
              <a:rPr lang="en-US" sz="3200" dirty="0" err="1"/>
              <a:t>OneHotEncoder</a:t>
            </a:r>
            <a:r>
              <a:rPr lang="en-US" sz="3200" dirty="0"/>
              <a:t>]</a:t>
            </a:r>
            <a:endParaRPr lang="ru-RU" sz="3200" dirty="0"/>
          </a:p>
          <a:p>
            <a:pPr marL="514350" indent="-514350" algn="l">
              <a:lnSpc>
                <a:spcPct val="100000"/>
              </a:lnSpc>
              <a:buAutoNum type="arabicPeriod" startAt="6"/>
            </a:pPr>
            <a:r>
              <a:rPr lang="en-US" sz="3200" b="1" dirty="0"/>
              <a:t>Pipeline</a:t>
            </a:r>
            <a:r>
              <a:rPr lang="en-US" sz="3200" dirty="0"/>
              <a:t> – </a:t>
            </a:r>
            <a:r>
              <a:rPr lang="ru-RU" sz="3200" dirty="0"/>
              <a:t>последовательность и автоматизация этапов</a:t>
            </a:r>
          </a:p>
          <a:p>
            <a:pPr marL="514350" indent="-514350" algn="l">
              <a:lnSpc>
                <a:spcPct val="100000"/>
              </a:lnSpc>
              <a:buAutoNum type="arabicPeriod" startAt="6"/>
            </a:pPr>
            <a:r>
              <a:rPr lang="en-US" sz="3200" b="1" dirty="0" err="1"/>
              <a:t>GridSearchSV</a:t>
            </a:r>
            <a:r>
              <a:rPr lang="en-US" sz="3200" dirty="0"/>
              <a:t> – </a:t>
            </a:r>
            <a:r>
              <a:rPr lang="ru-RU" sz="3200" dirty="0"/>
              <a:t>выбор модели по сетке с различными моделями, </a:t>
            </a:r>
            <a:r>
              <a:rPr lang="ru-RU" sz="3200" dirty="0" err="1"/>
              <a:t>скалерами</a:t>
            </a:r>
            <a:r>
              <a:rPr lang="ru-RU" sz="3200" dirty="0"/>
              <a:t> и параметрами…</a:t>
            </a:r>
          </a:p>
          <a:p>
            <a:pPr marL="514350" indent="-514350" algn="l">
              <a:lnSpc>
                <a:spcPct val="100000"/>
              </a:lnSpc>
              <a:buAutoNum type="arabicPeriod" startAt="6"/>
            </a:pPr>
            <a:r>
              <a:rPr lang="ru-RU" sz="3200" b="1" dirty="0"/>
              <a:t>Нейросети и </a:t>
            </a:r>
            <a:r>
              <a:rPr lang="en-US" sz="3200" b="1" dirty="0"/>
              <a:t>LLM </a:t>
            </a:r>
            <a:r>
              <a:rPr lang="ru-RU" sz="3200" dirty="0"/>
              <a:t>для анализа текста </a:t>
            </a:r>
            <a:r>
              <a:rPr lang="ru-RU" sz="3200" u="sng" dirty="0"/>
              <a:t>не использовались</a:t>
            </a:r>
          </a:p>
        </p:txBody>
      </p:sp>
      <p:sp>
        <p:nvSpPr>
          <p:cNvPr id="6" name="Text 2"/>
          <p:cNvSpPr txBox="1"/>
          <p:nvPr/>
        </p:nvSpPr>
        <p:spPr>
          <a:xfrm>
            <a:off x="519350" y="468400"/>
            <a:ext cx="14526600" cy="1296300"/>
          </a:xfrm>
          <a:prstGeom prst="rect">
            <a:avLst/>
          </a:prstGeom>
          <a:noFill/>
          <a:ln/>
        </p:spPr>
        <p:txBody>
          <a:bodyPr wrap="square" lIns="0" tIns="0" rIns="0" bIns="0" rtlCol="0" anchor="ctr"/>
          <a:lstStyle/>
          <a:p>
            <a:pPr marL="0" indent="0" algn="l">
              <a:lnSpc>
                <a:spcPct val="100000"/>
              </a:lnSpc>
              <a:buNone/>
            </a:pPr>
            <a:r>
              <a:rPr lang="ru-RU" sz="5000" b="1" dirty="0">
                <a:solidFill>
                  <a:srgbClr val="FFFFFF"/>
                </a:solidFill>
                <a:latin typeface="Arial" pitchFamily="34" charset="0"/>
                <a:ea typeface="Arial" pitchFamily="34" charset="-122"/>
                <a:cs typeface="Arial" pitchFamily="34" charset="-120"/>
              </a:rPr>
              <a:t>Используемые инструменты</a:t>
            </a:r>
            <a:endParaRPr lang="en-US" sz="5000" dirty="0"/>
          </a:p>
        </p:txBody>
      </p:sp>
      <p:sp>
        <p:nvSpPr>
          <p:cNvPr id="7" name="TextBox 6">
            <a:extLst>
              <a:ext uri="{FF2B5EF4-FFF2-40B4-BE49-F238E27FC236}">
                <a16:creationId xmlns:a16="http://schemas.microsoft.com/office/drawing/2014/main" id="{61CD3DE9-C7FD-4F34-A13E-1F6AFCF6DB19}"/>
              </a:ext>
            </a:extLst>
          </p:cNvPr>
          <p:cNvSpPr txBox="1"/>
          <p:nvPr/>
        </p:nvSpPr>
        <p:spPr>
          <a:xfrm>
            <a:off x="12970147" y="9212984"/>
            <a:ext cx="4734653" cy="646331"/>
          </a:xfrm>
          <a:prstGeom prst="rect">
            <a:avLst/>
          </a:prstGeom>
          <a:noFill/>
        </p:spPr>
        <p:txBody>
          <a:bodyPr wrap="square" rtlCol="0">
            <a:spAutoFit/>
          </a:bodyPr>
          <a:lstStyle/>
          <a:p>
            <a:r>
              <a:rPr lang="en-US" sz="3600" dirty="0"/>
              <a:t>http://vds.spb.su:8000</a:t>
            </a:r>
            <a:endParaRPr lang="ru-RU" sz="3600" dirty="0"/>
          </a:p>
        </p:txBody>
      </p:sp>
    </p:spTree>
    <p:extLst>
      <p:ext uri="{BB962C8B-B14F-4D97-AF65-F5344CB8AC3E}">
        <p14:creationId xmlns:p14="http://schemas.microsoft.com/office/powerpoint/2010/main" val="1096461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pic>
        <p:nvPicPr>
          <p:cNvPr id="3" name="Image 1" descr="preencoded.png"/>
          <p:cNvPicPr>
            <a:picLocks noChangeAspect="1"/>
          </p:cNvPicPr>
          <p:nvPr/>
        </p:nvPicPr>
        <p:blipFill>
          <a:blip r:embed="rId4"/>
          <a:stretch>
            <a:fillRect/>
          </a:stretch>
        </p:blipFill>
        <p:spPr>
          <a:xfrm>
            <a:off x="0" y="0"/>
            <a:ext cx="18288000" cy="10287000"/>
          </a:xfrm>
          <a:prstGeom prst="rect">
            <a:avLst/>
          </a:prstGeom>
        </p:spPr>
      </p:pic>
      <p:pic>
        <p:nvPicPr>
          <p:cNvPr id="4" name="Image 2" descr="preencoded.png"/>
          <p:cNvPicPr>
            <a:picLocks noChangeAspect="1"/>
          </p:cNvPicPr>
          <p:nvPr/>
        </p:nvPicPr>
        <p:blipFill>
          <a:blip r:embed="rId5"/>
          <a:stretch>
            <a:fillRect/>
          </a:stretch>
        </p:blipFill>
        <p:spPr>
          <a:xfrm>
            <a:off x="0" y="-4450"/>
            <a:ext cx="18288000" cy="10287000"/>
          </a:xfrm>
          <a:prstGeom prst="rect">
            <a:avLst/>
          </a:prstGeom>
        </p:spPr>
      </p:pic>
      <p:sp>
        <p:nvSpPr>
          <p:cNvPr id="5" name="Text 0"/>
          <p:cNvSpPr txBox="1"/>
          <p:nvPr/>
        </p:nvSpPr>
        <p:spPr>
          <a:xfrm>
            <a:off x="2206500" y="549125"/>
            <a:ext cx="13875000" cy="1701600"/>
          </a:xfrm>
          <a:prstGeom prst="rect">
            <a:avLst/>
          </a:prstGeom>
          <a:noFill/>
          <a:ln/>
        </p:spPr>
        <p:txBody>
          <a:bodyPr wrap="square" lIns="0" tIns="0" rIns="0" bIns="0" rtlCol="0" anchor="ctr"/>
          <a:lstStyle/>
          <a:p>
            <a:pPr marL="0" indent="0" algn="ctr">
              <a:lnSpc>
                <a:spcPct val="100000"/>
              </a:lnSpc>
              <a:buNone/>
            </a:pPr>
            <a:r>
              <a:rPr lang="en-US" sz="4600" b="1" dirty="0">
                <a:solidFill>
                  <a:srgbClr val="000000"/>
                </a:solidFill>
                <a:latin typeface="Arial" pitchFamily="34" charset="0"/>
                <a:ea typeface="Arial" pitchFamily="34" charset="-122"/>
                <a:cs typeface="Arial" pitchFamily="34" charset="-120"/>
              </a:rPr>
              <a:t>Ключевые характеристики и преимущества системы
</a:t>
            </a:r>
            <a:endParaRPr lang="en-US" sz="4600" dirty="0"/>
          </a:p>
        </p:txBody>
      </p:sp>
      <p:sp>
        <p:nvSpPr>
          <p:cNvPr id="6" name="Text 1"/>
          <p:cNvSpPr txBox="1"/>
          <p:nvPr/>
        </p:nvSpPr>
        <p:spPr>
          <a:xfrm>
            <a:off x="1326899" y="6366545"/>
            <a:ext cx="6535200" cy="2581200"/>
          </a:xfrm>
          <a:prstGeom prst="rect">
            <a:avLst/>
          </a:prstGeom>
          <a:noFill/>
          <a:ln/>
        </p:spPr>
        <p:txBody>
          <a:bodyPr wrap="square" lIns="0" tIns="0" rIns="0" bIns="0" rtlCol="0" anchor="ctr"/>
          <a:lstStyle/>
          <a:p>
            <a:pPr marL="0" indent="0" algn="l">
              <a:lnSpc>
                <a:spcPct val="115000"/>
              </a:lnSpc>
              <a:buNone/>
            </a:pPr>
            <a:r>
              <a:rPr lang="en-US" sz="3600" b="1" dirty="0" err="1">
                <a:solidFill>
                  <a:srgbClr val="1C3354"/>
                </a:solidFill>
                <a:latin typeface="Arial" pitchFamily="34" charset="0"/>
                <a:ea typeface="Arial" pitchFamily="34" charset="-122"/>
                <a:cs typeface="Arial" pitchFamily="34" charset="-120"/>
              </a:rPr>
              <a:t>Объективность</a:t>
            </a:r>
            <a:r>
              <a:rPr lang="en-US" sz="3068" dirty="0">
                <a:solidFill>
                  <a:srgbClr val="1C3354"/>
                </a:solidFill>
                <a:latin typeface="Arial" pitchFamily="34" charset="0"/>
                <a:ea typeface="Arial" pitchFamily="34" charset="-122"/>
                <a:cs typeface="Arial" pitchFamily="34" charset="-120"/>
              </a:rPr>
              <a:t>
</a:t>
            </a:r>
            <a:r>
              <a:rPr lang="en-US" sz="2813" dirty="0" err="1">
                <a:solidFill>
                  <a:srgbClr val="1C3354"/>
                </a:solidFill>
                <a:latin typeface="Arial" pitchFamily="34" charset="0"/>
                <a:ea typeface="Arial" pitchFamily="34" charset="-122"/>
                <a:cs typeface="Arial" pitchFamily="34" charset="-120"/>
              </a:rPr>
              <a:t>исключ</a:t>
            </a:r>
            <a:r>
              <a:rPr lang="ru-RU" sz="2813" dirty="0" err="1">
                <a:solidFill>
                  <a:srgbClr val="1C3354"/>
                </a:solidFill>
                <a:latin typeface="Arial" pitchFamily="34" charset="0"/>
                <a:ea typeface="Arial" pitchFamily="34" charset="-122"/>
                <a:cs typeface="Arial" pitchFamily="34" charset="-120"/>
              </a:rPr>
              <a:t>ает</a:t>
            </a:r>
            <a:r>
              <a:rPr lang="en-US" sz="2813" dirty="0">
                <a:solidFill>
                  <a:srgbClr val="1C3354"/>
                </a:solidFill>
                <a:latin typeface="Arial" pitchFamily="34" charset="0"/>
                <a:ea typeface="Arial" pitchFamily="34" charset="-122"/>
                <a:cs typeface="Arial" pitchFamily="34" charset="-120"/>
              </a:rPr>
              <a:t> человеческий фактор 
при выставлении оценок.
</a:t>
            </a:r>
            <a:endParaRPr lang="en-US" sz="3068" dirty="0"/>
          </a:p>
        </p:txBody>
      </p:sp>
      <p:sp>
        <p:nvSpPr>
          <p:cNvPr id="7" name="Text 2"/>
          <p:cNvSpPr txBox="1"/>
          <p:nvPr/>
        </p:nvSpPr>
        <p:spPr>
          <a:xfrm>
            <a:off x="1326899" y="3290991"/>
            <a:ext cx="7217328" cy="2581200"/>
          </a:xfrm>
          <a:prstGeom prst="rect">
            <a:avLst/>
          </a:prstGeom>
          <a:noFill/>
          <a:ln/>
        </p:spPr>
        <p:txBody>
          <a:bodyPr wrap="square" lIns="0" tIns="0" rIns="0" bIns="0" rtlCol="0" anchor="ctr"/>
          <a:lstStyle/>
          <a:p>
            <a:pPr marL="0" indent="0" algn="l">
              <a:lnSpc>
                <a:spcPct val="115000"/>
              </a:lnSpc>
              <a:buNone/>
            </a:pPr>
            <a:r>
              <a:rPr lang="en-US" sz="4000" b="1" dirty="0">
                <a:solidFill>
                  <a:srgbClr val="000000"/>
                </a:solidFill>
                <a:latin typeface="Arial" pitchFamily="34" charset="0"/>
                <a:ea typeface="Arial" pitchFamily="34" charset="-122"/>
                <a:cs typeface="Arial" pitchFamily="34" charset="-120"/>
              </a:rPr>
              <a:t>точность</a:t>
            </a:r>
            <a:r>
              <a:rPr lang="en-US" sz="3600" dirty="0">
                <a:solidFill>
                  <a:srgbClr val="000000"/>
                </a:solidFill>
                <a:latin typeface="Arial" pitchFamily="34" charset="0"/>
                <a:ea typeface="Arial" pitchFamily="34" charset="-122"/>
                <a:cs typeface="Arial" pitchFamily="34" charset="-120"/>
              </a:rPr>
              <a:t> оценки </a:t>
            </a:r>
            <a:r>
              <a:rPr lang="en-US" sz="3600" b="1" dirty="0">
                <a:solidFill>
                  <a:srgbClr val="000000"/>
                </a:solidFill>
                <a:latin typeface="Arial" pitchFamily="34" charset="0"/>
                <a:ea typeface="Arial" pitchFamily="34" charset="-122"/>
                <a:cs typeface="Arial" pitchFamily="34" charset="-120"/>
              </a:rPr>
              <a:t>76-78%</a:t>
            </a:r>
            <a:endParaRPr lang="ru-RU" sz="3600" b="1" dirty="0">
              <a:solidFill>
                <a:srgbClr val="000000"/>
              </a:solidFill>
              <a:latin typeface="Arial" pitchFamily="34" charset="0"/>
              <a:ea typeface="Arial" pitchFamily="34" charset="-122"/>
              <a:cs typeface="Arial" pitchFamily="34" charset="-120"/>
            </a:endParaRPr>
          </a:p>
          <a:p>
            <a:pPr marL="571500" indent="-571500" algn="l">
              <a:lnSpc>
                <a:spcPct val="115000"/>
              </a:lnSpc>
              <a:buFontTx/>
              <a:buChar char="-"/>
            </a:pPr>
            <a:r>
              <a:rPr lang="en-US" sz="2800" dirty="0">
                <a:solidFill>
                  <a:srgbClr val="000000"/>
                </a:solidFill>
                <a:latin typeface="Arial" pitchFamily="34" charset="0"/>
                <a:ea typeface="Arial" pitchFamily="34" charset="-122"/>
                <a:cs typeface="Arial" pitchFamily="34" charset="-120"/>
              </a:rPr>
              <a:t>f1-score</a:t>
            </a:r>
          </a:p>
          <a:p>
            <a:pPr marL="571500" indent="-571500" algn="l">
              <a:lnSpc>
                <a:spcPct val="115000"/>
              </a:lnSpc>
              <a:buFontTx/>
              <a:buChar char="-"/>
            </a:pPr>
            <a:r>
              <a:rPr lang="en-US" sz="2800" dirty="0">
                <a:solidFill>
                  <a:srgbClr val="000000"/>
                </a:solidFill>
                <a:latin typeface="Arial" pitchFamily="34" charset="0"/>
                <a:ea typeface="Arial" pitchFamily="34" charset="-122"/>
                <a:cs typeface="Arial" pitchFamily="34" charset="-120"/>
              </a:rPr>
              <a:t>Accuracy</a:t>
            </a:r>
          </a:p>
          <a:p>
            <a:pPr algn="l">
              <a:lnSpc>
                <a:spcPct val="115000"/>
              </a:lnSpc>
            </a:pPr>
            <a:r>
              <a:rPr lang="en-US" sz="2800" dirty="0">
                <a:solidFill>
                  <a:srgbClr val="000000"/>
                </a:solidFill>
                <a:latin typeface="Arial" pitchFamily="34" charset="0"/>
                <a:ea typeface="Arial" pitchFamily="34" charset="-122"/>
                <a:cs typeface="Arial" pitchFamily="34" charset="-120"/>
              </a:rPr>
              <a:t>-     </a:t>
            </a:r>
            <a:r>
              <a:rPr lang="en-US" sz="3200" b="1" dirty="0">
                <a:solidFill>
                  <a:srgbClr val="000000"/>
                </a:solidFill>
                <a:latin typeface="Arial" pitchFamily="34" charset="0"/>
                <a:ea typeface="Arial" pitchFamily="34" charset="-122"/>
                <a:cs typeface="Arial" pitchFamily="34" charset="-120"/>
              </a:rPr>
              <a:t>MAE  - 0.221</a:t>
            </a:r>
            <a:endParaRPr lang="ru-RU" sz="3200" b="1" dirty="0">
              <a:solidFill>
                <a:srgbClr val="000000"/>
              </a:solidFill>
              <a:latin typeface="Arial" pitchFamily="34" charset="0"/>
              <a:ea typeface="Arial" pitchFamily="34" charset="-122"/>
              <a:cs typeface="Arial" pitchFamily="34" charset="-120"/>
            </a:endParaRPr>
          </a:p>
          <a:p>
            <a:pPr marL="0" indent="0" algn="l">
              <a:lnSpc>
                <a:spcPct val="115000"/>
              </a:lnSpc>
              <a:buNone/>
            </a:pPr>
            <a:r>
              <a:rPr lang="ru-RU" sz="2400" dirty="0">
                <a:solidFill>
                  <a:srgbClr val="000000"/>
                </a:solidFill>
                <a:latin typeface="Arial" pitchFamily="34" charset="0"/>
                <a:cs typeface="Arial" pitchFamily="34" charset="-120"/>
              </a:rPr>
              <a:t>Неплохо для </a:t>
            </a:r>
            <a:r>
              <a:rPr lang="ru-RU" sz="2400" dirty="0" err="1">
                <a:solidFill>
                  <a:srgbClr val="000000"/>
                </a:solidFill>
                <a:latin typeface="Arial" pitchFamily="34" charset="0"/>
                <a:cs typeface="Arial" pitchFamily="34" charset="-120"/>
              </a:rPr>
              <a:t>трехклассовой</a:t>
            </a:r>
            <a:r>
              <a:rPr lang="ru-RU" sz="2400" dirty="0">
                <a:solidFill>
                  <a:srgbClr val="000000"/>
                </a:solidFill>
                <a:latin typeface="Arial" pitchFamily="34" charset="0"/>
                <a:cs typeface="Arial" pitchFamily="34" charset="-120"/>
              </a:rPr>
              <a:t> классификации </a:t>
            </a:r>
            <a:r>
              <a:rPr lang="ru-RU" sz="2400" dirty="0">
                <a:solidFill>
                  <a:schemeClr val="bg1">
                    <a:lumMod val="65000"/>
                  </a:schemeClr>
                </a:solidFill>
                <a:latin typeface="Arial" pitchFamily="34" charset="0"/>
                <a:cs typeface="Arial" pitchFamily="34" charset="-120"/>
              </a:rPr>
              <a:t>(33%)</a:t>
            </a:r>
          </a:p>
          <a:p>
            <a:pPr marL="0" indent="0" algn="l">
              <a:lnSpc>
                <a:spcPct val="115000"/>
              </a:lnSpc>
              <a:buNone/>
            </a:pPr>
            <a:r>
              <a:rPr lang="ru-RU" sz="2400" dirty="0">
                <a:solidFill>
                  <a:schemeClr val="bg1">
                    <a:lumMod val="65000"/>
                  </a:schemeClr>
                </a:solidFill>
                <a:latin typeface="Arial" pitchFamily="34" charset="0"/>
                <a:cs typeface="Arial" pitchFamily="34" charset="-120"/>
              </a:rPr>
              <a:t>(Почти 80%)</a:t>
            </a:r>
          </a:p>
          <a:p>
            <a:pPr marL="0" indent="0" algn="l">
              <a:lnSpc>
                <a:spcPct val="115000"/>
              </a:lnSpc>
              <a:buNone/>
            </a:pPr>
            <a:endParaRPr lang="en-US" sz="2800" dirty="0"/>
          </a:p>
        </p:txBody>
      </p:sp>
      <p:sp>
        <p:nvSpPr>
          <p:cNvPr id="8" name="Text 3"/>
          <p:cNvSpPr txBox="1"/>
          <p:nvPr/>
        </p:nvSpPr>
        <p:spPr>
          <a:xfrm>
            <a:off x="10101251" y="2930000"/>
            <a:ext cx="6399600" cy="2581200"/>
          </a:xfrm>
          <a:prstGeom prst="rect">
            <a:avLst/>
          </a:prstGeom>
          <a:noFill/>
          <a:ln/>
        </p:spPr>
        <p:txBody>
          <a:bodyPr wrap="square" lIns="0" tIns="0" rIns="0" bIns="0" rtlCol="0" anchor="ctr"/>
          <a:lstStyle/>
          <a:p>
            <a:pPr marL="0" indent="0" algn="l">
              <a:lnSpc>
                <a:spcPct val="115000"/>
              </a:lnSpc>
              <a:buNone/>
            </a:pPr>
            <a:r>
              <a:rPr lang="en-US" sz="3600" b="1" dirty="0">
                <a:solidFill>
                  <a:srgbClr val="1C3354"/>
                </a:solidFill>
                <a:latin typeface="Arial" pitchFamily="34" charset="0"/>
                <a:ea typeface="Arial" pitchFamily="34" charset="-122"/>
                <a:cs typeface="Arial" pitchFamily="34" charset="-120"/>
              </a:rPr>
              <a:t>Скорость</a:t>
            </a:r>
            <a:r>
              <a:rPr lang="en-US" sz="3600" dirty="0">
                <a:solidFill>
                  <a:srgbClr val="1C3354"/>
                </a:solidFill>
                <a:latin typeface="Arial" pitchFamily="34" charset="0"/>
                <a:ea typeface="Arial" pitchFamily="34" charset="-122"/>
                <a:cs typeface="Arial" pitchFamily="34" charset="-120"/>
              </a:rPr>
              <a:t> обработки </a:t>
            </a:r>
            <a:r>
              <a:rPr lang="en-US" sz="2940" dirty="0">
                <a:solidFill>
                  <a:srgbClr val="1C3354"/>
                </a:solidFill>
                <a:latin typeface="Arial" pitchFamily="34" charset="0"/>
                <a:ea typeface="Arial" pitchFamily="34" charset="-122"/>
                <a:cs typeface="Arial" pitchFamily="34" charset="-120"/>
              </a:rPr>
              <a:t>
• до 100 оценок за 3 минуты, 
•  до 3000 ответов в час 
</a:t>
            </a:r>
            <a:endParaRPr lang="ru-RU" sz="2940" dirty="0">
              <a:solidFill>
                <a:srgbClr val="1C3354"/>
              </a:solidFill>
              <a:latin typeface="Arial" pitchFamily="34" charset="0"/>
              <a:ea typeface="Arial" pitchFamily="34" charset="-122"/>
              <a:cs typeface="Arial" pitchFamily="34" charset="-120"/>
            </a:endParaRPr>
          </a:p>
          <a:p>
            <a:pPr marL="0" indent="0" algn="l">
              <a:lnSpc>
                <a:spcPct val="115000"/>
              </a:lnSpc>
              <a:buNone/>
            </a:pPr>
            <a:endParaRPr lang="en-US" sz="3068" dirty="0"/>
          </a:p>
        </p:txBody>
      </p:sp>
      <p:sp>
        <p:nvSpPr>
          <p:cNvPr id="9" name="Text 4"/>
          <p:cNvSpPr txBox="1"/>
          <p:nvPr/>
        </p:nvSpPr>
        <p:spPr>
          <a:xfrm>
            <a:off x="10101251" y="6366545"/>
            <a:ext cx="6399600" cy="2886638"/>
          </a:xfrm>
          <a:prstGeom prst="rect">
            <a:avLst/>
          </a:prstGeom>
          <a:noFill/>
          <a:ln/>
        </p:spPr>
        <p:txBody>
          <a:bodyPr wrap="square" lIns="0" tIns="0" rIns="0" bIns="0" rtlCol="0" anchor="ctr"/>
          <a:lstStyle/>
          <a:p>
            <a:pPr marL="0" indent="0" algn="l">
              <a:lnSpc>
                <a:spcPct val="115000"/>
              </a:lnSpc>
              <a:buNone/>
            </a:pPr>
            <a:r>
              <a:rPr lang="en-US" sz="3600" b="1" dirty="0">
                <a:solidFill>
                  <a:srgbClr val="1C3354"/>
                </a:solidFill>
                <a:latin typeface="Arial" pitchFamily="34" charset="0"/>
                <a:ea typeface="Arial" pitchFamily="34" charset="-122"/>
                <a:cs typeface="Arial" pitchFamily="34" charset="-120"/>
              </a:rPr>
              <a:t>Доступность</a:t>
            </a:r>
            <a:r>
              <a:rPr lang="en-US" sz="2940" b="1" dirty="0">
                <a:solidFill>
                  <a:srgbClr val="1C3354"/>
                </a:solidFill>
                <a:latin typeface="Arial" pitchFamily="34" charset="0"/>
                <a:ea typeface="Arial" pitchFamily="34" charset="-122"/>
                <a:cs typeface="Arial" pitchFamily="34" charset="-120"/>
              </a:rPr>
              <a:t> 
</a:t>
            </a:r>
            <a:r>
              <a:rPr lang="en-US" sz="2685" dirty="0">
                <a:solidFill>
                  <a:srgbClr val="1C3354"/>
                </a:solidFill>
                <a:latin typeface="Arial" pitchFamily="34" charset="0"/>
                <a:ea typeface="Arial" pitchFamily="34" charset="-122"/>
                <a:cs typeface="Arial" pitchFamily="34" charset="-120"/>
              </a:rPr>
              <a:t>Интерфейс работает 24/7 и поддерживает четыре типа вопросов с различной максимальной оценкой и экспортом оценок.
</a:t>
            </a:r>
            <a:endParaRPr lang="en-US" sz="2940" dirty="0"/>
          </a:p>
        </p:txBody>
      </p:sp>
      <p:sp>
        <p:nvSpPr>
          <p:cNvPr id="10" name="Text 5"/>
          <p:cNvSpPr txBox="1"/>
          <p:nvPr/>
        </p:nvSpPr>
        <p:spPr>
          <a:xfrm>
            <a:off x="123775" y="9536150"/>
            <a:ext cx="1029000" cy="746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3</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0" y="-469930"/>
            <a:ext cx="18397182" cy="10287000"/>
          </a:xfrm>
          <a:prstGeom prst="rect">
            <a:avLst/>
          </a:prstGeom>
        </p:spPr>
      </p:pic>
      <p:sp>
        <p:nvSpPr>
          <p:cNvPr id="4" name="Text 0"/>
          <p:cNvSpPr txBox="1"/>
          <p:nvPr/>
        </p:nvSpPr>
        <p:spPr>
          <a:xfrm>
            <a:off x="17242500" y="9536150"/>
            <a:ext cx="924600" cy="1085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2</a:t>
            </a:r>
            <a:endParaRPr lang="en-US" sz="2200" dirty="0"/>
          </a:p>
        </p:txBody>
      </p:sp>
      <p:sp>
        <p:nvSpPr>
          <p:cNvPr id="6" name="Text 2"/>
          <p:cNvSpPr txBox="1"/>
          <p:nvPr/>
        </p:nvSpPr>
        <p:spPr>
          <a:xfrm>
            <a:off x="519350" y="468400"/>
            <a:ext cx="14526600" cy="1296300"/>
          </a:xfrm>
          <a:prstGeom prst="rect">
            <a:avLst/>
          </a:prstGeom>
          <a:noFill/>
          <a:ln/>
        </p:spPr>
        <p:txBody>
          <a:bodyPr wrap="square" lIns="0" tIns="0" rIns="0" bIns="0" rtlCol="0" anchor="ctr"/>
          <a:lstStyle/>
          <a:p>
            <a:pPr marL="0" indent="0" algn="l">
              <a:lnSpc>
                <a:spcPct val="100000"/>
              </a:lnSpc>
              <a:buNone/>
            </a:pPr>
            <a:r>
              <a:rPr lang="ru-RU" sz="5000" b="1" dirty="0">
                <a:solidFill>
                  <a:srgbClr val="FFFFFF"/>
                </a:solidFill>
                <a:latin typeface="Arial" pitchFamily="34" charset="0"/>
                <a:ea typeface="Arial" pitchFamily="34" charset="-122"/>
                <a:cs typeface="Arial" pitchFamily="34" charset="-120"/>
              </a:rPr>
              <a:t>Усредненные показатели</a:t>
            </a:r>
            <a:endParaRPr lang="en-US" sz="5000" dirty="0"/>
          </a:p>
        </p:txBody>
      </p:sp>
      <p:sp>
        <p:nvSpPr>
          <p:cNvPr id="7" name="TextBox 6">
            <a:extLst>
              <a:ext uri="{FF2B5EF4-FFF2-40B4-BE49-F238E27FC236}">
                <a16:creationId xmlns:a16="http://schemas.microsoft.com/office/drawing/2014/main" id="{61CD3DE9-C7FD-4F34-A13E-1F6AFCF6DB19}"/>
              </a:ext>
            </a:extLst>
          </p:cNvPr>
          <p:cNvSpPr txBox="1"/>
          <p:nvPr/>
        </p:nvSpPr>
        <p:spPr>
          <a:xfrm>
            <a:off x="12970147" y="9212984"/>
            <a:ext cx="4734653" cy="646331"/>
          </a:xfrm>
          <a:prstGeom prst="rect">
            <a:avLst/>
          </a:prstGeom>
          <a:noFill/>
        </p:spPr>
        <p:txBody>
          <a:bodyPr wrap="square" rtlCol="0">
            <a:spAutoFit/>
          </a:bodyPr>
          <a:lstStyle/>
          <a:p>
            <a:r>
              <a:rPr lang="en-US" sz="3600" dirty="0"/>
              <a:t>http://vds.spb.su:8000</a:t>
            </a:r>
            <a:endParaRPr lang="ru-RU" sz="3600" dirty="0"/>
          </a:p>
        </p:txBody>
      </p:sp>
      <p:pic>
        <p:nvPicPr>
          <p:cNvPr id="8" name="Рисунок 7">
            <a:extLst>
              <a:ext uri="{FF2B5EF4-FFF2-40B4-BE49-F238E27FC236}">
                <a16:creationId xmlns:a16="http://schemas.microsoft.com/office/drawing/2014/main" id="{EE229FEF-7382-43BA-9358-964481692061}"/>
              </a:ext>
            </a:extLst>
          </p:cNvPr>
          <p:cNvPicPr>
            <a:picLocks noChangeAspect="1"/>
          </p:cNvPicPr>
          <p:nvPr/>
        </p:nvPicPr>
        <p:blipFill>
          <a:blip r:embed="rId4"/>
          <a:stretch>
            <a:fillRect/>
          </a:stretch>
        </p:blipFill>
        <p:spPr>
          <a:xfrm>
            <a:off x="0" y="2200456"/>
            <a:ext cx="16489680" cy="2835804"/>
          </a:xfrm>
          <a:prstGeom prst="rect">
            <a:avLst/>
          </a:prstGeom>
        </p:spPr>
      </p:pic>
      <p:pic>
        <p:nvPicPr>
          <p:cNvPr id="10" name="Рисунок 9">
            <a:extLst>
              <a:ext uri="{FF2B5EF4-FFF2-40B4-BE49-F238E27FC236}">
                <a16:creationId xmlns:a16="http://schemas.microsoft.com/office/drawing/2014/main" id="{D12109E1-D739-4ACD-806B-50FABE3E8027}"/>
              </a:ext>
            </a:extLst>
          </p:cNvPr>
          <p:cNvPicPr>
            <a:picLocks noChangeAspect="1"/>
          </p:cNvPicPr>
          <p:nvPr/>
        </p:nvPicPr>
        <p:blipFill>
          <a:blip r:embed="rId4"/>
          <a:stretch>
            <a:fillRect/>
          </a:stretch>
        </p:blipFill>
        <p:spPr>
          <a:xfrm>
            <a:off x="0" y="5672564"/>
            <a:ext cx="15843493" cy="2724676"/>
          </a:xfrm>
          <a:prstGeom prst="rect">
            <a:avLst/>
          </a:prstGeom>
        </p:spPr>
      </p:pic>
      <p:pic>
        <p:nvPicPr>
          <p:cNvPr id="12" name="Рисунок 11">
            <a:extLst>
              <a:ext uri="{FF2B5EF4-FFF2-40B4-BE49-F238E27FC236}">
                <a16:creationId xmlns:a16="http://schemas.microsoft.com/office/drawing/2014/main" id="{09AB1C54-498E-4E49-8F8D-D31F888E6186}"/>
              </a:ext>
            </a:extLst>
          </p:cNvPr>
          <p:cNvPicPr>
            <a:picLocks noChangeAspect="1"/>
          </p:cNvPicPr>
          <p:nvPr/>
        </p:nvPicPr>
        <p:blipFill>
          <a:blip r:embed="rId5"/>
          <a:stretch>
            <a:fillRect/>
          </a:stretch>
        </p:blipFill>
        <p:spPr>
          <a:xfrm>
            <a:off x="4033043" y="5672564"/>
            <a:ext cx="9067723" cy="2724676"/>
          </a:xfrm>
          <a:prstGeom prst="rect">
            <a:avLst/>
          </a:prstGeom>
        </p:spPr>
      </p:pic>
      <p:pic>
        <p:nvPicPr>
          <p:cNvPr id="14" name="Рисунок 13">
            <a:extLst>
              <a:ext uri="{FF2B5EF4-FFF2-40B4-BE49-F238E27FC236}">
                <a16:creationId xmlns:a16="http://schemas.microsoft.com/office/drawing/2014/main" id="{F6A1CD44-DE2C-4148-8BA3-75E498D82E52}"/>
              </a:ext>
            </a:extLst>
          </p:cNvPr>
          <p:cNvPicPr>
            <a:picLocks noChangeAspect="1"/>
          </p:cNvPicPr>
          <p:nvPr/>
        </p:nvPicPr>
        <p:blipFill>
          <a:blip r:embed="rId6"/>
          <a:stretch>
            <a:fillRect/>
          </a:stretch>
        </p:blipFill>
        <p:spPr>
          <a:xfrm>
            <a:off x="16459772" y="2200456"/>
            <a:ext cx="1521651" cy="2835804"/>
          </a:xfrm>
          <a:prstGeom prst="rect">
            <a:avLst/>
          </a:prstGeom>
        </p:spPr>
      </p:pic>
      <p:pic>
        <p:nvPicPr>
          <p:cNvPr id="18" name="Рисунок 17">
            <a:extLst>
              <a:ext uri="{FF2B5EF4-FFF2-40B4-BE49-F238E27FC236}">
                <a16:creationId xmlns:a16="http://schemas.microsoft.com/office/drawing/2014/main" id="{E68F5A0E-9228-4CCD-9B12-CF97F2B0A9AD}"/>
              </a:ext>
            </a:extLst>
          </p:cNvPr>
          <p:cNvPicPr>
            <a:picLocks noChangeAspect="1"/>
          </p:cNvPicPr>
          <p:nvPr/>
        </p:nvPicPr>
        <p:blipFill>
          <a:blip r:embed="rId7"/>
          <a:stretch>
            <a:fillRect/>
          </a:stretch>
        </p:blipFill>
        <p:spPr>
          <a:xfrm>
            <a:off x="13034943" y="5672564"/>
            <a:ext cx="3011483" cy="2724676"/>
          </a:xfrm>
          <a:prstGeom prst="rect">
            <a:avLst/>
          </a:prstGeom>
        </p:spPr>
      </p:pic>
    </p:spTree>
    <p:extLst>
      <p:ext uri="{BB962C8B-B14F-4D97-AF65-F5344CB8AC3E}">
        <p14:creationId xmlns:p14="http://schemas.microsoft.com/office/powerpoint/2010/main" val="2066790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0" y="-15240"/>
            <a:ext cx="18397182" cy="10287000"/>
          </a:xfrm>
          <a:prstGeom prst="rect">
            <a:avLst/>
          </a:prstGeom>
        </p:spPr>
      </p:pic>
      <p:sp>
        <p:nvSpPr>
          <p:cNvPr id="4" name="Text 0"/>
          <p:cNvSpPr txBox="1"/>
          <p:nvPr/>
        </p:nvSpPr>
        <p:spPr>
          <a:xfrm>
            <a:off x="17242500" y="9536150"/>
            <a:ext cx="924600" cy="1085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2</a:t>
            </a:r>
            <a:endParaRPr lang="en-US" sz="2200" dirty="0"/>
          </a:p>
        </p:txBody>
      </p:sp>
      <p:sp>
        <p:nvSpPr>
          <p:cNvPr id="6" name="Text 2"/>
          <p:cNvSpPr txBox="1"/>
          <p:nvPr/>
        </p:nvSpPr>
        <p:spPr>
          <a:xfrm>
            <a:off x="810873" y="454717"/>
            <a:ext cx="14526600" cy="1296300"/>
          </a:xfrm>
          <a:prstGeom prst="rect">
            <a:avLst/>
          </a:prstGeom>
          <a:noFill/>
          <a:ln/>
        </p:spPr>
        <p:txBody>
          <a:bodyPr wrap="square" lIns="0" tIns="0" rIns="0" bIns="0" rtlCol="0" anchor="ctr"/>
          <a:lstStyle/>
          <a:p>
            <a:pPr marL="0" indent="0" algn="l">
              <a:lnSpc>
                <a:spcPct val="100000"/>
              </a:lnSpc>
              <a:buNone/>
            </a:pPr>
            <a:r>
              <a:rPr lang="ru-RU" sz="5000" b="1" dirty="0">
                <a:solidFill>
                  <a:srgbClr val="FFFFFF"/>
                </a:solidFill>
                <a:latin typeface="Arial" pitchFamily="34" charset="0"/>
                <a:ea typeface="Arial" pitchFamily="34" charset="-122"/>
                <a:cs typeface="Arial" pitchFamily="34" charset="-120"/>
              </a:rPr>
              <a:t>Разбор пары примеров</a:t>
            </a:r>
            <a:endParaRPr lang="en-US" sz="5000" dirty="0"/>
          </a:p>
        </p:txBody>
      </p:sp>
      <p:sp>
        <p:nvSpPr>
          <p:cNvPr id="7" name="TextBox 6">
            <a:extLst>
              <a:ext uri="{FF2B5EF4-FFF2-40B4-BE49-F238E27FC236}">
                <a16:creationId xmlns:a16="http://schemas.microsoft.com/office/drawing/2014/main" id="{61CD3DE9-C7FD-4F34-A13E-1F6AFCF6DB19}"/>
              </a:ext>
            </a:extLst>
          </p:cNvPr>
          <p:cNvSpPr txBox="1"/>
          <p:nvPr/>
        </p:nvSpPr>
        <p:spPr>
          <a:xfrm>
            <a:off x="12970147" y="9212984"/>
            <a:ext cx="4734653" cy="646331"/>
          </a:xfrm>
          <a:prstGeom prst="rect">
            <a:avLst/>
          </a:prstGeom>
          <a:noFill/>
        </p:spPr>
        <p:txBody>
          <a:bodyPr wrap="square" rtlCol="0">
            <a:spAutoFit/>
          </a:bodyPr>
          <a:lstStyle/>
          <a:p>
            <a:r>
              <a:rPr lang="en-US" sz="3600" dirty="0"/>
              <a:t>http://vds.spb.su:8000</a:t>
            </a:r>
            <a:endParaRPr lang="ru-RU" sz="3600" dirty="0"/>
          </a:p>
        </p:txBody>
      </p:sp>
      <p:sp>
        <p:nvSpPr>
          <p:cNvPr id="2" name="TextBox 1">
            <a:extLst>
              <a:ext uri="{FF2B5EF4-FFF2-40B4-BE49-F238E27FC236}">
                <a16:creationId xmlns:a16="http://schemas.microsoft.com/office/drawing/2014/main" id="{2CDFAF28-C57B-445B-92BA-6115E9647D3F}"/>
              </a:ext>
            </a:extLst>
          </p:cNvPr>
          <p:cNvSpPr txBox="1"/>
          <p:nvPr/>
        </p:nvSpPr>
        <p:spPr>
          <a:xfrm>
            <a:off x="665857" y="2545603"/>
            <a:ext cx="2918012" cy="707886"/>
          </a:xfrm>
          <a:prstGeom prst="rect">
            <a:avLst/>
          </a:prstGeom>
          <a:noFill/>
        </p:spPr>
        <p:txBody>
          <a:bodyPr wrap="square" rtlCol="0">
            <a:spAutoFit/>
          </a:bodyPr>
          <a:lstStyle/>
          <a:p>
            <a:r>
              <a:rPr lang="en-US" sz="2000" b="1" dirty="0">
                <a:latin typeface="Segoe WPC"/>
              </a:rPr>
              <a:t>id</a:t>
            </a:r>
            <a:r>
              <a:rPr lang="en-US" dirty="0">
                <a:latin typeface="Segoe WPC"/>
              </a:rPr>
              <a:t> </a:t>
            </a:r>
            <a:r>
              <a:rPr lang="ru-RU" b="0" i="0" dirty="0">
                <a:effectLst/>
                <a:latin typeface="Segoe WPC"/>
              </a:rPr>
              <a:t>765</a:t>
            </a:r>
            <a:endParaRPr lang="en-US" b="0" i="0" dirty="0">
              <a:effectLst/>
              <a:latin typeface="Segoe WPC"/>
            </a:endParaRPr>
          </a:p>
          <a:p>
            <a:r>
              <a:rPr lang="ru-RU" sz="2000" b="1" dirty="0">
                <a:latin typeface="Segoe WPC"/>
              </a:rPr>
              <a:t>Номер вопроса</a:t>
            </a:r>
            <a:r>
              <a:rPr lang="ru-RU" dirty="0">
                <a:latin typeface="Segoe WPC"/>
              </a:rPr>
              <a:t> 1</a:t>
            </a:r>
            <a:endParaRPr lang="ru-RU" dirty="0"/>
          </a:p>
        </p:txBody>
      </p:sp>
      <p:graphicFrame>
        <p:nvGraphicFramePr>
          <p:cNvPr id="13" name="Таблица 12">
            <a:extLst>
              <a:ext uri="{FF2B5EF4-FFF2-40B4-BE49-F238E27FC236}">
                <a16:creationId xmlns:a16="http://schemas.microsoft.com/office/drawing/2014/main" id="{BE1D0F2A-A6BA-45FB-B46E-4810408E22A1}"/>
              </a:ext>
            </a:extLst>
          </p:cNvPr>
          <p:cNvGraphicFramePr>
            <a:graphicFrameLocks noGrp="1"/>
          </p:cNvGraphicFramePr>
          <p:nvPr>
            <p:extLst>
              <p:ext uri="{D42A27DB-BD31-4B8C-83A1-F6EECF244321}">
                <p14:modId xmlns:p14="http://schemas.microsoft.com/office/powerpoint/2010/main" val="1034013422"/>
              </p:ext>
            </p:extLst>
          </p:nvPr>
        </p:nvGraphicFramePr>
        <p:xfrm>
          <a:off x="2905270" y="2448263"/>
          <a:ext cx="15895172" cy="1097280"/>
        </p:xfrm>
        <a:graphic>
          <a:graphicData uri="http://schemas.openxmlformats.org/drawingml/2006/table">
            <a:tbl>
              <a:tblPr/>
              <a:tblGrid>
                <a:gridCol w="7947586">
                  <a:extLst>
                    <a:ext uri="{9D8B030D-6E8A-4147-A177-3AD203B41FA5}">
                      <a16:colId xmlns:a16="http://schemas.microsoft.com/office/drawing/2014/main" val="3370649596"/>
                    </a:ext>
                  </a:extLst>
                </a:gridCol>
                <a:gridCol w="7947586">
                  <a:extLst>
                    <a:ext uri="{9D8B030D-6E8A-4147-A177-3AD203B41FA5}">
                      <a16:colId xmlns:a16="http://schemas.microsoft.com/office/drawing/2014/main" val="4195407847"/>
                    </a:ext>
                  </a:extLst>
                </a:gridCol>
              </a:tblGrid>
              <a:tr h="343879">
                <a:tc>
                  <a:txBody>
                    <a:bodyPr/>
                    <a:lstStyle/>
                    <a:p>
                      <a:r>
                        <a:rPr lang="ru-RU" sz="2800" b="1" dirty="0">
                          <a:effectLst/>
                        </a:rPr>
                        <a:t>Текст вопроса </a:t>
                      </a:r>
                      <a:r>
                        <a:rPr lang="ru-RU" sz="2000" dirty="0">
                          <a:effectLst/>
                        </a:rPr>
                        <a:t>Вопрос устной части экзамена. Начните </a:t>
                      </a:r>
                      <a:r>
                        <a:rPr lang="ru-RU" sz="2000" dirty="0" err="1">
                          <a:effectLst/>
                        </a:rPr>
                        <a:t>диалог.Вы</a:t>
                      </a:r>
                      <a:r>
                        <a:rPr lang="ru-RU" sz="2000" dirty="0">
                          <a:effectLst/>
                        </a:rPr>
                        <a:t> пришли в посольство. Вам нужно оформить срочную визу. Узнайте, какие документы нужны для оформления.</a:t>
                      </a:r>
                    </a:p>
                  </a:txBody>
                  <a:tcPr marL="60960" marR="60960" marT="30480" marB="30480" anchor="ctr">
                    <a:lnL>
                      <a:noFill/>
                    </a:lnL>
                    <a:lnR>
                      <a:noFill/>
                    </a:lnR>
                    <a:lnT>
                      <a:noFill/>
                    </a:lnT>
                    <a:lnB>
                      <a:noFill/>
                    </a:lnB>
                  </a:tcPr>
                </a:tc>
                <a:tc>
                  <a:txBody>
                    <a:bodyPr/>
                    <a:lstStyle/>
                    <a:p>
                      <a:endParaRPr lang="ru-RU" dirty="0">
                        <a:effectLst/>
                      </a:endParaRPr>
                    </a:p>
                  </a:txBody>
                  <a:tcPr marL="60960" marR="60960" marT="30480" marB="30480" anchor="ctr">
                    <a:lnL>
                      <a:noFill/>
                    </a:lnL>
                    <a:lnR>
                      <a:noFill/>
                    </a:lnR>
                    <a:lnT>
                      <a:noFill/>
                    </a:lnT>
                    <a:lnB>
                      <a:noFill/>
                    </a:lnB>
                  </a:tcPr>
                </a:tc>
                <a:extLst>
                  <a:ext uri="{0D108BD9-81ED-4DB2-BD59-A6C34878D82A}">
                    <a16:rowId xmlns:a16="http://schemas.microsoft.com/office/drawing/2014/main" val="1013444882"/>
                  </a:ext>
                </a:extLst>
              </a:tr>
            </a:tbl>
          </a:graphicData>
        </a:graphic>
      </p:graphicFrame>
      <p:sp>
        <p:nvSpPr>
          <p:cNvPr id="18" name="TextBox 17">
            <a:extLst>
              <a:ext uri="{FF2B5EF4-FFF2-40B4-BE49-F238E27FC236}">
                <a16:creationId xmlns:a16="http://schemas.microsoft.com/office/drawing/2014/main" id="{752E50A1-911C-4FAF-AFB3-72E698F02797}"/>
              </a:ext>
            </a:extLst>
          </p:cNvPr>
          <p:cNvSpPr txBox="1"/>
          <p:nvPr/>
        </p:nvSpPr>
        <p:spPr>
          <a:xfrm>
            <a:off x="665857" y="3691675"/>
            <a:ext cx="16675101" cy="2062103"/>
          </a:xfrm>
          <a:prstGeom prst="rect">
            <a:avLst/>
          </a:prstGeom>
          <a:noFill/>
        </p:spPr>
        <p:txBody>
          <a:bodyPr wrap="square" rtlCol="0">
            <a:spAutoFit/>
          </a:bodyPr>
          <a:lstStyle/>
          <a:p>
            <a:r>
              <a:rPr lang="ru-RU" sz="2800" b="1" dirty="0" err="1"/>
              <a:t>Транскрибация</a:t>
            </a:r>
            <a:r>
              <a:rPr lang="ru-RU" sz="2800" b="1" dirty="0"/>
              <a:t> ответа </a:t>
            </a:r>
            <a:r>
              <a:rPr lang="ru-RU" sz="2000" dirty="0"/>
              <a:t>Первый вопрос. Начните диалог. Вы пришли в посольство. Вам нужно оформить срочную визу. Узнайте, какие документы нужны для оформления. Спрашивайте у меня. Здравствуйте. Я хотела бы вас узнать, какие документы нужны для подачи на срочную визу. Здравствуйте. В какую страну собираетесь? Во Вьетнам. Цель вашей поездки? Туризм. Вы уже купили путь? Путевку забронировали? Да, я купила путевку, забронировала билеты, отель. Хорошо. В таком случае документы, удостоверяющие личность и копии вашей </a:t>
            </a:r>
            <a:r>
              <a:rPr lang="ru-RU" sz="2000" dirty="0" err="1"/>
              <a:t>дронни</a:t>
            </a:r>
            <a:r>
              <a:rPr lang="ru-RU" sz="2000" dirty="0"/>
              <a:t> можете предоставить? Да, конечно, могу. У меня все с собой. Хорошо. Завтра ваша виза будет готова. Можете прийти получать. Хорошо, спасибо. А подскажите, в какое время? После обеда, после двух часов. Все, спасибо большое. До свидания. Всего доброго. Следующий вопрос.</a:t>
            </a:r>
            <a:r>
              <a:rPr lang="ru-RU" dirty="0"/>
              <a:t>	</a:t>
            </a:r>
          </a:p>
        </p:txBody>
      </p:sp>
      <p:sp>
        <p:nvSpPr>
          <p:cNvPr id="19" name="TextBox 18">
            <a:extLst>
              <a:ext uri="{FF2B5EF4-FFF2-40B4-BE49-F238E27FC236}">
                <a16:creationId xmlns:a16="http://schemas.microsoft.com/office/drawing/2014/main" id="{D6D82316-9E4E-4A13-AD4C-E7D52E4DE086}"/>
              </a:ext>
            </a:extLst>
          </p:cNvPr>
          <p:cNvSpPr txBox="1"/>
          <p:nvPr/>
        </p:nvSpPr>
        <p:spPr>
          <a:xfrm>
            <a:off x="639333" y="6020973"/>
            <a:ext cx="17065467" cy="1200329"/>
          </a:xfrm>
          <a:prstGeom prst="rect">
            <a:avLst/>
          </a:prstGeom>
          <a:noFill/>
        </p:spPr>
        <p:txBody>
          <a:bodyPr wrap="square" rtlCol="0">
            <a:spAutoFit/>
          </a:bodyPr>
          <a:lstStyle/>
          <a:p>
            <a:r>
              <a:rPr lang="ru-RU" dirty="0" err="1"/>
              <a:t>Длина_файла</a:t>
            </a:r>
            <a:r>
              <a:rPr lang="ru-RU" dirty="0"/>
              <a:t>      119.04 </a:t>
            </a:r>
            <a:r>
              <a:rPr lang="en-US" dirty="0"/>
              <a:t>        </a:t>
            </a:r>
            <a:r>
              <a:rPr lang="ru-RU" dirty="0" err="1"/>
              <a:t>Качество_речи</a:t>
            </a:r>
            <a:r>
              <a:rPr lang="ru-RU" dirty="0"/>
              <a:t> -30.72</a:t>
            </a:r>
            <a:r>
              <a:rPr lang="en-US" dirty="0"/>
              <a:t>  </a:t>
            </a:r>
            <a:r>
              <a:rPr lang="ru-RU" dirty="0"/>
              <a:t>                     </a:t>
            </a:r>
            <a:r>
              <a:rPr lang="ru-RU" dirty="0" err="1"/>
              <a:t>Лексическое_разнообразие</a:t>
            </a:r>
            <a:r>
              <a:rPr lang="en-US" dirty="0"/>
              <a:t> 0.67    </a:t>
            </a:r>
            <a:r>
              <a:rPr lang="ru-RU" dirty="0" err="1"/>
              <a:t>Словарный_запас</a:t>
            </a:r>
            <a:r>
              <a:rPr lang="ru-RU" dirty="0"/>
              <a:t> </a:t>
            </a:r>
            <a:r>
              <a:rPr lang="en-US" dirty="0"/>
              <a:t>74 </a:t>
            </a:r>
            <a:r>
              <a:rPr lang="ru-RU" dirty="0"/>
              <a:t> </a:t>
            </a:r>
            <a:r>
              <a:rPr lang="en-US" dirty="0"/>
              <a:t> </a:t>
            </a:r>
            <a:r>
              <a:rPr lang="ru-RU" dirty="0"/>
              <a:t>         </a:t>
            </a:r>
            <a:r>
              <a:rPr lang="en-US" dirty="0" err="1"/>
              <a:t>noun_ratio</a:t>
            </a:r>
            <a:r>
              <a:rPr lang="en-US" dirty="0"/>
              <a:t> 0.27    </a:t>
            </a:r>
            <a:r>
              <a:rPr lang="en-US" dirty="0" err="1"/>
              <a:t>verb_ratio</a:t>
            </a:r>
            <a:r>
              <a:rPr lang="en-US" dirty="0"/>
              <a:t> 0.14 </a:t>
            </a:r>
            <a:r>
              <a:rPr lang="ru-RU" dirty="0"/>
              <a:t>   </a:t>
            </a:r>
          </a:p>
          <a:p>
            <a:r>
              <a:rPr lang="en-US" dirty="0" err="1"/>
              <a:t>adjective_ratio</a:t>
            </a:r>
            <a:r>
              <a:rPr lang="en-US" dirty="0"/>
              <a:t> </a:t>
            </a:r>
            <a:r>
              <a:rPr lang="ru-RU" dirty="0"/>
              <a:t>    </a:t>
            </a:r>
            <a:r>
              <a:rPr lang="en-US" dirty="0"/>
              <a:t>0.14 </a:t>
            </a:r>
            <a:r>
              <a:rPr lang="ru-RU" dirty="0"/>
              <a:t>            </a:t>
            </a:r>
            <a:r>
              <a:rPr lang="ru-RU" dirty="0" err="1"/>
              <a:t>Длина_ответа</a:t>
            </a:r>
            <a:r>
              <a:rPr lang="en-US" dirty="0"/>
              <a:t> </a:t>
            </a:r>
            <a:r>
              <a:rPr lang="ru-RU" dirty="0"/>
              <a:t>       </a:t>
            </a:r>
            <a:r>
              <a:rPr lang="en-US" dirty="0"/>
              <a:t>765 </a:t>
            </a:r>
            <a:r>
              <a:rPr lang="ru-RU" dirty="0"/>
              <a:t>                      </a:t>
            </a:r>
            <a:r>
              <a:rPr lang="en-US" dirty="0" err="1"/>
              <a:t>question_overlap_ratio</a:t>
            </a:r>
            <a:r>
              <a:rPr lang="ru-RU" dirty="0"/>
              <a:t>           </a:t>
            </a:r>
            <a:r>
              <a:rPr lang="en-US" dirty="0"/>
              <a:t> 0.75</a:t>
            </a:r>
            <a:r>
              <a:rPr lang="ru-RU" dirty="0"/>
              <a:t>   Рассуждение</a:t>
            </a:r>
            <a:r>
              <a:rPr lang="en-US" dirty="0"/>
              <a:t> </a:t>
            </a:r>
            <a:r>
              <a:rPr lang="ru-RU" dirty="0"/>
              <a:t>         </a:t>
            </a:r>
            <a:r>
              <a:rPr lang="en-US" dirty="0"/>
              <a:t>1 </a:t>
            </a:r>
            <a:r>
              <a:rPr lang="ru-RU" dirty="0"/>
              <a:t>             </a:t>
            </a:r>
            <a:r>
              <a:rPr lang="en-US" dirty="0"/>
              <a:t>VERB </a:t>
            </a:r>
            <a:r>
              <a:rPr lang="ru-RU" dirty="0"/>
              <a:t>             </a:t>
            </a:r>
            <a:r>
              <a:rPr lang="en-US" dirty="0"/>
              <a:t>15 </a:t>
            </a:r>
            <a:r>
              <a:rPr lang="ru-RU" dirty="0"/>
              <a:t>    </a:t>
            </a:r>
            <a:r>
              <a:rPr lang="en-US" dirty="0"/>
              <a:t>NOUN </a:t>
            </a:r>
            <a:r>
              <a:rPr lang="ru-RU" dirty="0"/>
              <a:t>        </a:t>
            </a:r>
            <a:r>
              <a:rPr lang="en-US" dirty="0"/>
              <a:t>30 </a:t>
            </a:r>
            <a:r>
              <a:rPr lang="ru-RU" dirty="0"/>
              <a:t>                     </a:t>
            </a:r>
          </a:p>
          <a:p>
            <a:r>
              <a:rPr lang="ru-RU" dirty="0" err="1"/>
              <a:t>Скорость_речи</a:t>
            </a:r>
            <a:r>
              <a:rPr lang="en-US" dirty="0"/>
              <a:t> </a:t>
            </a:r>
            <a:r>
              <a:rPr lang="ru-RU" dirty="0"/>
              <a:t>  </a:t>
            </a:r>
            <a:r>
              <a:rPr lang="en-US" dirty="0"/>
              <a:t>6.43 </a:t>
            </a:r>
            <a:r>
              <a:rPr lang="ru-RU" dirty="0"/>
              <a:t>             </a:t>
            </a:r>
            <a:r>
              <a:rPr lang="en-US" dirty="0" err="1"/>
              <a:t>quality_score</a:t>
            </a:r>
            <a:r>
              <a:rPr lang="en-US" dirty="0"/>
              <a:t>	11.64</a:t>
            </a:r>
            <a:r>
              <a:rPr lang="ru-RU" dirty="0"/>
              <a:t>     </a:t>
            </a:r>
            <a:r>
              <a:rPr lang="en-US" dirty="0"/>
              <a:t> </a:t>
            </a:r>
            <a:r>
              <a:rPr lang="ru-RU" dirty="0"/>
              <a:t>             </a:t>
            </a:r>
            <a:r>
              <a:rPr lang="ru-RU" dirty="0" err="1"/>
              <a:t>Свобода_речи</a:t>
            </a:r>
            <a:r>
              <a:rPr lang="ru-RU" dirty="0"/>
              <a:t>	            </a:t>
            </a:r>
            <a:r>
              <a:rPr lang="en-US" dirty="0"/>
              <a:t>0.13</a:t>
            </a:r>
            <a:r>
              <a:rPr lang="ru-RU" dirty="0"/>
              <a:t>    </a:t>
            </a:r>
            <a:r>
              <a:rPr lang="ru-RU" dirty="0" err="1"/>
              <a:t>Уникальных_слов</a:t>
            </a:r>
            <a:r>
              <a:rPr lang="ru-RU" dirty="0"/>
              <a:t> </a:t>
            </a:r>
            <a:r>
              <a:rPr lang="en-US" dirty="0"/>
              <a:t>97</a:t>
            </a:r>
            <a:r>
              <a:rPr lang="ru-RU" dirty="0"/>
              <a:t>            </a:t>
            </a:r>
            <a:r>
              <a:rPr lang="en-US" dirty="0"/>
              <a:t>ADJF </a:t>
            </a:r>
            <a:r>
              <a:rPr lang="ru-RU" dirty="0"/>
              <a:t>              15    </a:t>
            </a:r>
            <a:r>
              <a:rPr lang="en-US" dirty="0" err="1"/>
              <a:t>length_ratio</a:t>
            </a:r>
            <a:r>
              <a:rPr lang="en-US" dirty="0"/>
              <a:t> 0.54  </a:t>
            </a:r>
          </a:p>
          <a:p>
            <a:r>
              <a:rPr lang="en-US" dirty="0" err="1"/>
              <a:t>length_factor</a:t>
            </a:r>
            <a:r>
              <a:rPr lang="en-US" dirty="0"/>
              <a:t> </a:t>
            </a:r>
            <a:r>
              <a:rPr lang="ru-RU" dirty="0"/>
              <a:t>      </a:t>
            </a:r>
            <a:r>
              <a:rPr lang="en-US" dirty="0"/>
              <a:t>-1   </a:t>
            </a:r>
            <a:r>
              <a:rPr lang="ru-RU" dirty="0"/>
              <a:t>              </a:t>
            </a:r>
            <a:r>
              <a:rPr lang="en-US" dirty="0" err="1"/>
              <a:t>quality_vocab_interaction</a:t>
            </a:r>
            <a:r>
              <a:rPr lang="en-US" dirty="0"/>
              <a:t> 1722.66 </a:t>
            </a:r>
            <a:r>
              <a:rPr lang="ru-RU" dirty="0"/>
              <a:t>  </a:t>
            </a:r>
            <a:r>
              <a:rPr lang="en-US" dirty="0" err="1"/>
              <a:t>length_speed_interaction</a:t>
            </a:r>
            <a:r>
              <a:rPr lang="en-US" dirty="0"/>
              <a:t> 9832.41 </a:t>
            </a:r>
            <a:r>
              <a:rPr lang="ru-RU" dirty="0"/>
              <a:t>  </a:t>
            </a:r>
            <a:r>
              <a:rPr lang="en-US" dirty="0" err="1"/>
              <a:t>noun_adjf_interaction</a:t>
            </a:r>
            <a:r>
              <a:rPr lang="en-US" dirty="0"/>
              <a:t> 900 </a:t>
            </a:r>
            <a:r>
              <a:rPr lang="ru-RU" dirty="0"/>
              <a:t>  </a:t>
            </a:r>
            <a:r>
              <a:rPr lang="en-US" dirty="0" err="1"/>
              <a:t>diversity_unique_interaction</a:t>
            </a:r>
            <a:r>
              <a:rPr lang="en-US" dirty="0"/>
              <a:t> 129.33</a:t>
            </a:r>
            <a:endParaRPr lang="ru-RU" dirty="0"/>
          </a:p>
        </p:txBody>
      </p:sp>
      <p:sp>
        <p:nvSpPr>
          <p:cNvPr id="20" name="TextBox 19">
            <a:extLst>
              <a:ext uri="{FF2B5EF4-FFF2-40B4-BE49-F238E27FC236}">
                <a16:creationId xmlns:a16="http://schemas.microsoft.com/office/drawing/2014/main" id="{26389482-571A-4CBF-B082-683348A55BFD}"/>
              </a:ext>
            </a:extLst>
          </p:cNvPr>
          <p:cNvSpPr txBox="1"/>
          <p:nvPr/>
        </p:nvSpPr>
        <p:spPr>
          <a:xfrm>
            <a:off x="666071" y="7562185"/>
            <a:ext cx="4478397" cy="461665"/>
          </a:xfrm>
          <a:prstGeom prst="rect">
            <a:avLst/>
          </a:prstGeom>
          <a:noFill/>
        </p:spPr>
        <p:txBody>
          <a:bodyPr wrap="square" rtlCol="0">
            <a:spAutoFit/>
          </a:bodyPr>
          <a:lstStyle/>
          <a:p>
            <a:r>
              <a:rPr lang="ru-RU" sz="2400" b="1" dirty="0"/>
              <a:t>Оценка экзаменатора: </a:t>
            </a:r>
            <a:r>
              <a:rPr lang="ru-RU" sz="2400" dirty="0"/>
              <a:t>1</a:t>
            </a:r>
          </a:p>
        </p:txBody>
      </p:sp>
    </p:spTree>
    <p:extLst>
      <p:ext uri="{BB962C8B-B14F-4D97-AF65-F5344CB8AC3E}">
        <p14:creationId xmlns:p14="http://schemas.microsoft.com/office/powerpoint/2010/main" val="3485847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0" y="-8384"/>
            <a:ext cx="18397182" cy="10287000"/>
          </a:xfrm>
          <a:prstGeom prst="rect">
            <a:avLst/>
          </a:prstGeom>
        </p:spPr>
      </p:pic>
      <p:sp>
        <p:nvSpPr>
          <p:cNvPr id="4" name="Text 0"/>
          <p:cNvSpPr txBox="1"/>
          <p:nvPr/>
        </p:nvSpPr>
        <p:spPr>
          <a:xfrm>
            <a:off x="17242500" y="9536150"/>
            <a:ext cx="924600" cy="1085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2</a:t>
            </a:r>
            <a:endParaRPr lang="en-US" sz="2200" dirty="0"/>
          </a:p>
        </p:txBody>
      </p:sp>
      <p:sp>
        <p:nvSpPr>
          <p:cNvPr id="6" name="Text 2"/>
          <p:cNvSpPr txBox="1"/>
          <p:nvPr/>
        </p:nvSpPr>
        <p:spPr>
          <a:xfrm>
            <a:off x="666071" y="250772"/>
            <a:ext cx="14526600" cy="1296300"/>
          </a:xfrm>
          <a:prstGeom prst="rect">
            <a:avLst/>
          </a:prstGeom>
          <a:noFill/>
          <a:ln/>
        </p:spPr>
        <p:txBody>
          <a:bodyPr wrap="square" lIns="0" tIns="0" rIns="0" bIns="0" rtlCol="0" anchor="ctr"/>
          <a:lstStyle/>
          <a:p>
            <a:pPr marL="0" indent="0" algn="l">
              <a:lnSpc>
                <a:spcPct val="100000"/>
              </a:lnSpc>
              <a:buNone/>
            </a:pPr>
            <a:r>
              <a:rPr lang="ru-RU" sz="5000" b="1" dirty="0">
                <a:solidFill>
                  <a:srgbClr val="FFFFFF"/>
                </a:solidFill>
                <a:latin typeface="Arial" pitchFamily="34" charset="0"/>
                <a:ea typeface="Arial" pitchFamily="34" charset="-122"/>
                <a:cs typeface="Arial" pitchFamily="34" charset="-120"/>
              </a:rPr>
              <a:t>Разбор пары примеров</a:t>
            </a:r>
            <a:endParaRPr lang="en-US" sz="5000" dirty="0"/>
          </a:p>
        </p:txBody>
      </p:sp>
      <p:sp>
        <p:nvSpPr>
          <p:cNvPr id="2" name="TextBox 1">
            <a:extLst>
              <a:ext uri="{FF2B5EF4-FFF2-40B4-BE49-F238E27FC236}">
                <a16:creationId xmlns:a16="http://schemas.microsoft.com/office/drawing/2014/main" id="{2CDFAF28-C57B-445B-92BA-6115E9647D3F}"/>
              </a:ext>
            </a:extLst>
          </p:cNvPr>
          <p:cNvSpPr txBox="1"/>
          <p:nvPr/>
        </p:nvSpPr>
        <p:spPr>
          <a:xfrm>
            <a:off x="666071" y="2298140"/>
            <a:ext cx="2918012" cy="707886"/>
          </a:xfrm>
          <a:prstGeom prst="rect">
            <a:avLst/>
          </a:prstGeom>
          <a:noFill/>
        </p:spPr>
        <p:txBody>
          <a:bodyPr wrap="square" rtlCol="0">
            <a:spAutoFit/>
          </a:bodyPr>
          <a:lstStyle/>
          <a:p>
            <a:r>
              <a:rPr lang="en-US" sz="2000" b="1" dirty="0">
                <a:latin typeface="Segoe WPC"/>
              </a:rPr>
              <a:t>id</a:t>
            </a:r>
            <a:r>
              <a:rPr lang="en-US" dirty="0">
                <a:latin typeface="Segoe WPC"/>
              </a:rPr>
              <a:t> </a:t>
            </a:r>
            <a:r>
              <a:rPr lang="ru-RU" dirty="0">
                <a:latin typeface="Segoe WPC"/>
              </a:rPr>
              <a:t>378</a:t>
            </a:r>
            <a:endParaRPr lang="en-US" b="0" i="0" dirty="0">
              <a:effectLst/>
              <a:latin typeface="Segoe WPC"/>
            </a:endParaRPr>
          </a:p>
          <a:p>
            <a:r>
              <a:rPr lang="ru-RU" sz="2000" b="1" dirty="0">
                <a:latin typeface="Segoe WPC"/>
              </a:rPr>
              <a:t>Номер вопроса</a:t>
            </a:r>
            <a:r>
              <a:rPr lang="ru-RU" dirty="0">
                <a:latin typeface="Segoe WPC"/>
              </a:rPr>
              <a:t> 4</a:t>
            </a:r>
            <a:endParaRPr lang="ru-RU" dirty="0"/>
          </a:p>
        </p:txBody>
      </p:sp>
      <p:sp>
        <p:nvSpPr>
          <p:cNvPr id="18" name="TextBox 17">
            <a:extLst>
              <a:ext uri="{FF2B5EF4-FFF2-40B4-BE49-F238E27FC236}">
                <a16:creationId xmlns:a16="http://schemas.microsoft.com/office/drawing/2014/main" id="{752E50A1-911C-4FAF-AFB3-72E698F02797}"/>
              </a:ext>
            </a:extLst>
          </p:cNvPr>
          <p:cNvSpPr txBox="1"/>
          <p:nvPr/>
        </p:nvSpPr>
        <p:spPr>
          <a:xfrm>
            <a:off x="556462" y="3757094"/>
            <a:ext cx="16675101" cy="4308872"/>
          </a:xfrm>
          <a:prstGeom prst="rect">
            <a:avLst/>
          </a:prstGeom>
          <a:noFill/>
        </p:spPr>
        <p:txBody>
          <a:bodyPr wrap="square" rtlCol="0">
            <a:spAutoFit/>
          </a:bodyPr>
          <a:lstStyle/>
          <a:p>
            <a:r>
              <a:rPr lang="ru-RU" sz="2800" b="1" dirty="0" err="1"/>
              <a:t>Транскрибация</a:t>
            </a:r>
            <a:r>
              <a:rPr lang="ru-RU" sz="2800" b="1" dirty="0"/>
              <a:t> ответа </a:t>
            </a:r>
            <a:r>
              <a:rPr lang="ru-RU" sz="1400" dirty="0"/>
              <a:t>П</a:t>
            </a:r>
            <a:r>
              <a:rPr lang="ru-RU" sz="1200" dirty="0"/>
              <a:t>ожалуйста, внимательно посмотрите на картинку. Отпишите ее, опираясь на вопросы над картинкой. Время года лето. Я вижу семью на пикник. Как бы они. Вот вижу отца. У них трое детей. Два мальчика, девочка. Вот. Мама с девочкой накрывают как бы стол. Вот. Отец жарит шашлыки. А сыновья помогают отцу. Вот. Ну, описать семью. Как бы они как бы счастливая семья. Заботливый отец. Заботливая как бы мама. Описать одно из них. Ну, я бы хотела маму. Мама довольно таки небольшого роста. Как бы волосы короткие. Корешка. Одета в полоску коричневого футболка. Синие шорты. Ну, мама тоже как бы заботливая мама. Заботится о своей семье. Вот. Вот. Все. Угу. Рядом </a:t>
            </a:r>
            <a:r>
              <a:rPr lang="ru-RU" sz="1200" dirty="0" err="1"/>
              <a:t>арикадка</a:t>
            </a:r>
            <a:r>
              <a:rPr lang="ru-RU" sz="1200" dirty="0"/>
              <a:t>. Красивая. Ну, место как бы природа. Как бы красивое место. Природа. Тихо отдыхают. Пикник устроили. Как бы. Ну, красивое место. Угу. Ну, все. Вы смотрите на вопросы, да? Да. Да, я люблю, например, отдыхать. Как бы свежие волосы. Красивое место. Да. Люблю. Летом, да, часто бываем как бы на природе. Всей семьей. Друзьями. Как бы родственниками. Ну, знакомы там все. Забираемся как бы на пикник, на шашлыки. Там. Да. Да. Часто бываем летом. На природе. Угу. Все описали, да? Угу. Ну, у нас с вами осталось еще время. Давайте поговорим. Ну, а куда вы, например, ездите? Где вы были? Вот. В каких природных местах? В каких природных местах? Ну, там. У себя на родине тоже были. Там тоже вот красивые места. Красивые. Да. Расскажите. В Азербайджане были как бы. Вот. У нас есть там деревня. Там тоже. Ну, очень красивые места. Там. Угу. И в Саратове тоже. Там вот были. На природе очень красиво. Тоже нравится. Там даже были даже маленькие игрушки. Там. Деревья там красивые. Угу. Мне нравится природа. Я обожаю природу. А из какого города приехали? Из Азербайджана. Из города какого? Баку. Из Баку. Да. Ну, расскажите про этот город. Что вот интересного там? Баку. Ну, интересно. Баку очень красивый город. Раньше как бы старым. Как бы своим. Как бы старинным. Там. </a:t>
            </a:r>
            <a:r>
              <a:rPr lang="ru-RU" sz="1200" dirty="0" err="1"/>
              <a:t>Хуйбукой</a:t>
            </a:r>
            <a:r>
              <a:rPr lang="ru-RU" sz="1200" dirty="0"/>
              <a:t>. Там. Что-то там. Ну, сейчас прям. Как говорится. Это маленький Дубай на Казахстанском море. Ну, очень красивый город. Угу. И как раньше. Сейчас все как бы развивается. Как бы красиво. Ну, Баку я уже не была. Уже как 5 лет. Угу. Пока я в Саратове. Как бы не могу вот это уехать. Угу. Вот. Какие-то другие страны были? Других стран? Нет. Нет. А куда-то хотите поехать? Да. А в Турцию хочу. В Турцию хочу. В Дубай хочу. Я не знаю. Там это Турция. Вот, допустим, Черное море хочу. Там очень красивое место. Там говорят, что там просто супер. Вот. И в Дубай хочу тоже. Там очень красиво. Угу. Вот. А с чем вы занимаетесь в свободное время? В свободное время я люблю ходить по магазинам. Угу. Можно покупки делать, вот, вещи покупать. Угу. Можно сказать, что из магазина я вообще не ухожу. В свободное время культурно по магазинам хожу. Угу. Люблю. Угу. Работаете? Учитесь? Работаю. Работаете кем? Да. Я крутой продавцом магазинной одежды. Угу. А что вам нравится в вашей работе? Ну, так как я люблю, как бы, это, покупать вещи. Угу. Одежды, как бы. Вот там тоже, как бы, я иногда... Я иногда смотрю для себя что-нибудь там, это, выбираю, там, для себя что-нибудь покупаю, как бы. Ну, еще, ну, нравится моя работа, как бы, знаете, там, поправлять вещи, там, сделать витрину, там, общаться с людьми, как бы. Ну, что-то советуете, наверное, да? Да. И советую, как бы, допустим, по размерам, допустим, ка, вот, допустим, приходят к нам, как бы, этот, ну, люди вот спрашивают. Да, вот, я не знаю, словом как бы, размеры, да? Да. Ну, я, допустим, как бы, размеры, подскажите мне, пожалуйста, какой у меня вот размер? Я для них подбираю, как бы, размеры, там, помогаю, я, я для них подбираю одежду, джинсы, там, кофты, ну, всякие там вещи, выбираю, как бы. И заодно вот учусь русского языка, разговаривать, общаться, как бы, так вот. Угу. Ну, что Вы дальше планируете делать? Может быть, свой магазин открыть, что Вам интересно? Ну, дай Бог, тоже, вот, допустим, дальше я планирую, ну, так-то я бы выучился, как бы, на перманент бровей. Угу. Вот, я хочу тоже вот дальше как-то вот салон свой открыть. Угу. Как-то там заниматься тоже, вот, брови там сделать, как бы, идею, нашу девушку красивую сделать. Угу. Вот, у меня уже мечта пока вот это вот, свой салон открыть. Угу. И там, как бы, это, работать. Угу. А Вы думаете это сделать в Саратове? В Саратове, да, я сама на открытой датах. В какой части города Вы думаете это делать? В центре города я хочу, да, вот, все как бы, я жила, я сама в центре города живем, но вот ближе вот к городу. Поэтому хочу вот, да, я думаю, чтобы было ближе</a:t>
            </a:r>
            <a:r>
              <a:rPr lang="ru-RU" sz="1400" dirty="0"/>
              <a:t>, чтобы, как бы, это. Угу. Чтобы с семьей время тоже проводить. Да, да, да. С мамой, с папой. Угу. А мы живем вместе, с отцом, с матерью, как по-моему. Угу. Чтобы вместе время было, чтобы проводилось, чтобы, допустим, меня не ждать там три часа автобус, маршруток. Вот, поэтому, как бы, да. Хорошо, мы с Вами завершили узор.</a:t>
            </a:r>
            <a:r>
              <a:rPr lang="ru-RU" sz="1100" dirty="0"/>
              <a:t>	</a:t>
            </a:r>
            <a:endParaRPr lang="ru-RU" dirty="0"/>
          </a:p>
        </p:txBody>
      </p:sp>
      <p:sp>
        <p:nvSpPr>
          <p:cNvPr id="19" name="TextBox 18">
            <a:extLst>
              <a:ext uri="{FF2B5EF4-FFF2-40B4-BE49-F238E27FC236}">
                <a16:creationId xmlns:a16="http://schemas.microsoft.com/office/drawing/2014/main" id="{D6D82316-9E4E-4A13-AD4C-E7D52E4DE086}"/>
              </a:ext>
            </a:extLst>
          </p:cNvPr>
          <p:cNvSpPr txBox="1"/>
          <p:nvPr/>
        </p:nvSpPr>
        <p:spPr>
          <a:xfrm>
            <a:off x="666071" y="8297726"/>
            <a:ext cx="17065467" cy="1200329"/>
          </a:xfrm>
          <a:prstGeom prst="rect">
            <a:avLst/>
          </a:prstGeom>
          <a:noFill/>
        </p:spPr>
        <p:txBody>
          <a:bodyPr wrap="square" rtlCol="0">
            <a:spAutoFit/>
          </a:bodyPr>
          <a:lstStyle/>
          <a:p>
            <a:r>
              <a:rPr lang="ru-RU" dirty="0" err="1"/>
              <a:t>Длина_файла</a:t>
            </a:r>
            <a:r>
              <a:rPr lang="ru-RU" dirty="0"/>
              <a:t>      379</a:t>
            </a:r>
            <a:r>
              <a:rPr lang="en-US" dirty="0"/>
              <a:t>.4</a:t>
            </a:r>
            <a:r>
              <a:rPr lang="ru-RU" dirty="0"/>
              <a:t> </a:t>
            </a:r>
            <a:r>
              <a:rPr lang="en-US" dirty="0"/>
              <a:t>          </a:t>
            </a:r>
            <a:r>
              <a:rPr lang="ru-RU" dirty="0" err="1"/>
              <a:t>Качество_речи</a:t>
            </a:r>
            <a:r>
              <a:rPr lang="en-US" dirty="0"/>
              <a:t>     </a:t>
            </a:r>
            <a:r>
              <a:rPr lang="ru-RU" dirty="0"/>
              <a:t> </a:t>
            </a:r>
            <a:r>
              <a:rPr lang="en-US" dirty="0"/>
              <a:t>       24.55            </a:t>
            </a:r>
            <a:r>
              <a:rPr lang="ru-RU" dirty="0" err="1"/>
              <a:t>Лексическое_разнообразие</a:t>
            </a:r>
            <a:r>
              <a:rPr lang="en-US" dirty="0"/>
              <a:t>  0.28   </a:t>
            </a:r>
            <a:r>
              <a:rPr lang="ru-RU" dirty="0" err="1"/>
              <a:t>Словарный_запас</a:t>
            </a:r>
            <a:r>
              <a:rPr lang="ru-RU" dirty="0"/>
              <a:t> </a:t>
            </a:r>
            <a:r>
              <a:rPr lang="en-US" dirty="0"/>
              <a:t>     240 </a:t>
            </a:r>
            <a:r>
              <a:rPr lang="ru-RU" dirty="0"/>
              <a:t> </a:t>
            </a:r>
            <a:r>
              <a:rPr lang="en-US" dirty="0"/>
              <a:t> </a:t>
            </a:r>
            <a:r>
              <a:rPr lang="ru-RU" dirty="0"/>
              <a:t>       </a:t>
            </a:r>
            <a:r>
              <a:rPr lang="en-US" dirty="0" err="1"/>
              <a:t>noun_ratio</a:t>
            </a:r>
            <a:r>
              <a:rPr lang="en-US" dirty="0"/>
              <a:t> 0.18    </a:t>
            </a:r>
            <a:r>
              <a:rPr lang="en-US" dirty="0" err="1"/>
              <a:t>verb_ratio</a:t>
            </a:r>
            <a:r>
              <a:rPr lang="en-US" dirty="0"/>
              <a:t> 0.12 </a:t>
            </a:r>
            <a:r>
              <a:rPr lang="ru-RU" dirty="0"/>
              <a:t>   </a:t>
            </a:r>
          </a:p>
          <a:p>
            <a:r>
              <a:rPr lang="en-US" dirty="0" err="1"/>
              <a:t>adjective_ratio</a:t>
            </a:r>
            <a:r>
              <a:rPr lang="en-US" dirty="0"/>
              <a:t> </a:t>
            </a:r>
            <a:r>
              <a:rPr lang="ru-RU" dirty="0"/>
              <a:t>    </a:t>
            </a:r>
            <a:r>
              <a:rPr lang="en-US" dirty="0"/>
              <a:t>0.7</a:t>
            </a:r>
            <a:r>
              <a:rPr lang="ru-RU" dirty="0"/>
              <a:t>           </a:t>
            </a:r>
            <a:r>
              <a:rPr lang="en-US" dirty="0"/>
              <a:t>   </a:t>
            </a:r>
            <a:r>
              <a:rPr lang="ru-RU" dirty="0"/>
              <a:t> </a:t>
            </a:r>
            <a:r>
              <a:rPr lang="ru-RU" dirty="0" err="1"/>
              <a:t>Длина_ответа</a:t>
            </a:r>
            <a:r>
              <a:rPr lang="en-US" dirty="0"/>
              <a:t> </a:t>
            </a:r>
            <a:r>
              <a:rPr lang="ru-RU" dirty="0"/>
              <a:t>       </a:t>
            </a:r>
            <a:r>
              <a:rPr lang="en-US" dirty="0"/>
              <a:t>       4836 </a:t>
            </a:r>
            <a:r>
              <a:rPr lang="ru-RU" dirty="0"/>
              <a:t>            </a:t>
            </a:r>
            <a:r>
              <a:rPr lang="en-US" dirty="0" err="1"/>
              <a:t>question_overlap_ratio</a:t>
            </a:r>
            <a:r>
              <a:rPr lang="ru-RU" dirty="0"/>
              <a:t>           </a:t>
            </a:r>
            <a:r>
              <a:rPr lang="en-US" dirty="0"/>
              <a:t> 0.30</a:t>
            </a:r>
            <a:r>
              <a:rPr lang="ru-RU" dirty="0"/>
              <a:t>   Рассуждение</a:t>
            </a:r>
            <a:r>
              <a:rPr lang="en-US" dirty="0"/>
              <a:t> </a:t>
            </a:r>
            <a:r>
              <a:rPr lang="ru-RU" dirty="0"/>
              <a:t>         </a:t>
            </a:r>
            <a:r>
              <a:rPr lang="en-US" dirty="0"/>
              <a:t>     0 </a:t>
            </a:r>
            <a:r>
              <a:rPr lang="ru-RU" dirty="0"/>
              <a:t>            </a:t>
            </a:r>
            <a:r>
              <a:rPr lang="en-US" dirty="0"/>
              <a:t> </a:t>
            </a:r>
            <a:r>
              <a:rPr lang="ru-RU" dirty="0"/>
              <a:t> </a:t>
            </a:r>
            <a:r>
              <a:rPr lang="en-US" dirty="0"/>
              <a:t>VERB </a:t>
            </a:r>
            <a:r>
              <a:rPr lang="ru-RU" dirty="0"/>
              <a:t>             </a:t>
            </a:r>
            <a:r>
              <a:rPr lang="en-US" dirty="0"/>
              <a:t>100 </a:t>
            </a:r>
            <a:r>
              <a:rPr lang="ru-RU" dirty="0"/>
              <a:t>    </a:t>
            </a:r>
            <a:r>
              <a:rPr lang="en-US" dirty="0"/>
              <a:t>  NOUN </a:t>
            </a:r>
            <a:r>
              <a:rPr lang="ru-RU" dirty="0"/>
              <a:t>        </a:t>
            </a:r>
            <a:r>
              <a:rPr lang="en-US" dirty="0"/>
              <a:t>152 </a:t>
            </a:r>
            <a:r>
              <a:rPr lang="ru-RU" dirty="0"/>
              <a:t>                     </a:t>
            </a:r>
          </a:p>
          <a:p>
            <a:r>
              <a:rPr lang="ru-RU" dirty="0" err="1"/>
              <a:t>Скорость_речи</a:t>
            </a:r>
            <a:r>
              <a:rPr lang="en-US" dirty="0"/>
              <a:t> </a:t>
            </a:r>
            <a:r>
              <a:rPr lang="ru-RU" dirty="0"/>
              <a:t>  </a:t>
            </a:r>
            <a:r>
              <a:rPr lang="en-US" dirty="0"/>
              <a:t>12.73 </a:t>
            </a:r>
            <a:r>
              <a:rPr lang="ru-RU" dirty="0"/>
              <a:t>            </a:t>
            </a:r>
            <a:r>
              <a:rPr lang="en-US" dirty="0" err="1"/>
              <a:t>quality_score</a:t>
            </a:r>
            <a:r>
              <a:rPr lang="en-US" dirty="0"/>
              <a:t>	     11.64</a:t>
            </a:r>
            <a:r>
              <a:rPr lang="ru-RU" dirty="0"/>
              <a:t>     </a:t>
            </a:r>
            <a:r>
              <a:rPr lang="en-US" dirty="0"/>
              <a:t> </a:t>
            </a:r>
            <a:r>
              <a:rPr lang="ru-RU" dirty="0"/>
              <a:t>       </a:t>
            </a:r>
            <a:r>
              <a:rPr lang="ru-RU" dirty="0" err="1"/>
              <a:t>Свобода_речи</a:t>
            </a:r>
            <a:r>
              <a:rPr lang="ru-RU" dirty="0"/>
              <a:t>	            </a:t>
            </a:r>
            <a:r>
              <a:rPr lang="en-US" dirty="0"/>
              <a:t>0.13</a:t>
            </a:r>
            <a:r>
              <a:rPr lang="ru-RU" dirty="0"/>
              <a:t>    </a:t>
            </a:r>
            <a:r>
              <a:rPr lang="ru-RU" dirty="0" err="1"/>
              <a:t>Уникальных_слов</a:t>
            </a:r>
            <a:r>
              <a:rPr lang="ru-RU" dirty="0"/>
              <a:t> </a:t>
            </a:r>
            <a:r>
              <a:rPr lang="en-US" dirty="0"/>
              <a:t>    423</a:t>
            </a:r>
            <a:r>
              <a:rPr lang="ru-RU" dirty="0"/>
              <a:t>          </a:t>
            </a:r>
            <a:r>
              <a:rPr lang="en-US" dirty="0"/>
              <a:t>ADJF </a:t>
            </a:r>
            <a:r>
              <a:rPr lang="ru-RU" dirty="0"/>
              <a:t>              </a:t>
            </a:r>
            <a:r>
              <a:rPr lang="en-US" dirty="0"/>
              <a:t>63</a:t>
            </a:r>
            <a:r>
              <a:rPr lang="ru-RU" dirty="0"/>
              <a:t>    </a:t>
            </a:r>
            <a:r>
              <a:rPr lang="en-US" dirty="0" err="1"/>
              <a:t>length_ratio</a:t>
            </a:r>
            <a:r>
              <a:rPr lang="en-US" dirty="0"/>
              <a:t> 3.39 </a:t>
            </a:r>
          </a:p>
          <a:p>
            <a:r>
              <a:rPr lang="en-US" dirty="0" err="1"/>
              <a:t>length_factor</a:t>
            </a:r>
            <a:r>
              <a:rPr lang="en-US" dirty="0"/>
              <a:t> </a:t>
            </a:r>
            <a:r>
              <a:rPr lang="ru-RU" dirty="0"/>
              <a:t>      </a:t>
            </a:r>
            <a:r>
              <a:rPr lang="en-US" dirty="0"/>
              <a:t>1   </a:t>
            </a:r>
            <a:r>
              <a:rPr lang="ru-RU" dirty="0"/>
              <a:t>              </a:t>
            </a:r>
            <a:r>
              <a:rPr lang="en-US" dirty="0" err="1"/>
              <a:t>quality_vocab_interaction</a:t>
            </a:r>
            <a:r>
              <a:rPr lang="en-US" dirty="0"/>
              <a:t> 1722.66 </a:t>
            </a:r>
            <a:r>
              <a:rPr lang="ru-RU" dirty="0"/>
              <a:t>  </a:t>
            </a:r>
            <a:r>
              <a:rPr lang="en-US" dirty="0" err="1"/>
              <a:t>length_speed_interaction</a:t>
            </a:r>
            <a:r>
              <a:rPr lang="en-US" dirty="0"/>
              <a:t> 9832.41 </a:t>
            </a:r>
            <a:r>
              <a:rPr lang="ru-RU" dirty="0"/>
              <a:t>  </a:t>
            </a:r>
            <a:r>
              <a:rPr lang="en-US" dirty="0" err="1"/>
              <a:t>noun_adjf_interaction</a:t>
            </a:r>
            <a:r>
              <a:rPr lang="en-US" dirty="0"/>
              <a:t> 9152     </a:t>
            </a:r>
            <a:r>
              <a:rPr lang="ru-RU" dirty="0"/>
              <a:t>  </a:t>
            </a:r>
            <a:r>
              <a:rPr lang="en-US" dirty="0" err="1"/>
              <a:t>diversity_unique_interaction</a:t>
            </a:r>
            <a:r>
              <a:rPr lang="en-US" dirty="0"/>
              <a:t> 239.43</a:t>
            </a:r>
            <a:endParaRPr lang="ru-RU" dirty="0"/>
          </a:p>
        </p:txBody>
      </p:sp>
      <p:sp>
        <p:nvSpPr>
          <p:cNvPr id="20" name="TextBox 19">
            <a:extLst>
              <a:ext uri="{FF2B5EF4-FFF2-40B4-BE49-F238E27FC236}">
                <a16:creationId xmlns:a16="http://schemas.microsoft.com/office/drawing/2014/main" id="{26389482-571A-4CBF-B082-683348A55BFD}"/>
              </a:ext>
            </a:extLst>
          </p:cNvPr>
          <p:cNvSpPr txBox="1"/>
          <p:nvPr/>
        </p:nvSpPr>
        <p:spPr>
          <a:xfrm>
            <a:off x="666071" y="9534290"/>
            <a:ext cx="4478397" cy="461665"/>
          </a:xfrm>
          <a:prstGeom prst="rect">
            <a:avLst/>
          </a:prstGeom>
          <a:noFill/>
        </p:spPr>
        <p:txBody>
          <a:bodyPr wrap="square" rtlCol="0">
            <a:spAutoFit/>
          </a:bodyPr>
          <a:lstStyle/>
          <a:p>
            <a:r>
              <a:rPr lang="ru-RU" sz="2400" b="1" dirty="0"/>
              <a:t>Оценка экзаменатора: 2</a:t>
            </a:r>
            <a:endParaRPr lang="ru-RU" sz="2400" dirty="0"/>
          </a:p>
        </p:txBody>
      </p:sp>
      <p:sp>
        <p:nvSpPr>
          <p:cNvPr id="11" name="TextBox 10">
            <a:extLst>
              <a:ext uri="{FF2B5EF4-FFF2-40B4-BE49-F238E27FC236}">
                <a16:creationId xmlns:a16="http://schemas.microsoft.com/office/drawing/2014/main" id="{E4889A86-A575-470C-81AD-3C56E15C48D6}"/>
              </a:ext>
            </a:extLst>
          </p:cNvPr>
          <p:cNvSpPr txBox="1"/>
          <p:nvPr/>
        </p:nvSpPr>
        <p:spPr>
          <a:xfrm>
            <a:off x="3583869" y="2298140"/>
            <a:ext cx="13285828" cy="1661993"/>
          </a:xfrm>
          <a:prstGeom prst="rect">
            <a:avLst/>
          </a:prstGeom>
          <a:noFill/>
        </p:spPr>
        <p:txBody>
          <a:bodyPr wrap="square" rtlCol="0">
            <a:spAutoFit/>
          </a:bodyPr>
          <a:lstStyle/>
          <a:p>
            <a:r>
              <a:rPr lang="ru-RU" sz="2800" b="1" dirty="0">
                <a:effectLst/>
              </a:rPr>
              <a:t>Текст вопроса </a:t>
            </a:r>
            <a:r>
              <a:rPr lang="ru-RU" sz="1800" dirty="0">
                <a:effectLst/>
              </a:rPr>
              <a:t>Вопрос устной части экзамена. Опишите картинку.  Ваше сообщение должно содержать следующую информацию: – Что Вы видите на этом рисунке (место, время года и т.д.)? – Кто изображён на рисунке? – Что они делают? – Опишите подробно любого человека, изображённого на рисунке. – А Вы любите отдых на природе? – Вы часто бываете на природе с семьей, друзьями?</a:t>
            </a:r>
            <a:r>
              <a:rPr lang="ru-RU" sz="2000" dirty="0">
                <a:effectLst/>
              </a:rPr>
              <a:t>	</a:t>
            </a:r>
          </a:p>
          <a:p>
            <a:endParaRPr lang="ru-RU" dirty="0"/>
          </a:p>
        </p:txBody>
      </p:sp>
    </p:spTree>
    <p:extLst>
      <p:ext uri="{BB962C8B-B14F-4D97-AF65-F5344CB8AC3E}">
        <p14:creationId xmlns:p14="http://schemas.microsoft.com/office/powerpoint/2010/main" val="1260861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pic>
        <p:nvPicPr>
          <p:cNvPr id="3" name="Image 1" descr="preencoded.png"/>
          <p:cNvPicPr>
            <a:picLocks noChangeAspect="1"/>
          </p:cNvPicPr>
          <p:nvPr/>
        </p:nvPicPr>
        <p:blipFill>
          <a:blip r:embed="rId4"/>
          <a:stretch>
            <a:fillRect/>
          </a:stretch>
        </p:blipFill>
        <p:spPr>
          <a:xfrm>
            <a:off x="0" y="0"/>
            <a:ext cx="18288000" cy="10287000"/>
          </a:xfrm>
          <a:prstGeom prst="rect">
            <a:avLst/>
          </a:prstGeom>
        </p:spPr>
      </p:pic>
      <p:pic>
        <p:nvPicPr>
          <p:cNvPr id="4" name="Image 2" descr="preencoded.png"/>
          <p:cNvPicPr>
            <a:picLocks noChangeAspect="1"/>
          </p:cNvPicPr>
          <p:nvPr/>
        </p:nvPicPr>
        <p:blipFill>
          <a:blip r:embed="rId5"/>
          <a:stretch>
            <a:fillRect/>
          </a:stretch>
        </p:blipFill>
        <p:spPr>
          <a:xfrm>
            <a:off x="0" y="-4450"/>
            <a:ext cx="18288000" cy="10287000"/>
          </a:xfrm>
          <a:prstGeom prst="rect">
            <a:avLst/>
          </a:prstGeom>
        </p:spPr>
      </p:pic>
      <p:sp>
        <p:nvSpPr>
          <p:cNvPr id="5" name="Text 0"/>
          <p:cNvSpPr txBox="1"/>
          <p:nvPr/>
        </p:nvSpPr>
        <p:spPr>
          <a:xfrm>
            <a:off x="2206500" y="549125"/>
            <a:ext cx="13875000" cy="1701600"/>
          </a:xfrm>
          <a:prstGeom prst="rect">
            <a:avLst/>
          </a:prstGeom>
          <a:noFill/>
          <a:ln/>
        </p:spPr>
        <p:txBody>
          <a:bodyPr wrap="square" lIns="0" tIns="0" rIns="0" bIns="0" rtlCol="0" anchor="ctr"/>
          <a:lstStyle/>
          <a:p>
            <a:pPr marL="0" indent="0" algn="ctr">
              <a:lnSpc>
                <a:spcPct val="100000"/>
              </a:lnSpc>
              <a:buNone/>
            </a:pPr>
            <a:r>
              <a:rPr lang="ru-RU" sz="4600" b="1" dirty="0">
                <a:solidFill>
                  <a:srgbClr val="000000"/>
                </a:solidFill>
                <a:latin typeface="Arial" pitchFamily="34" charset="0"/>
                <a:ea typeface="Arial" pitchFamily="34" charset="-122"/>
                <a:cs typeface="Arial" pitchFamily="34" charset="-120"/>
              </a:rPr>
              <a:t>Возникшие проблемы в ходе разработки</a:t>
            </a:r>
            <a:endParaRPr lang="en-US" sz="4600" dirty="0"/>
          </a:p>
        </p:txBody>
      </p:sp>
      <p:sp>
        <p:nvSpPr>
          <p:cNvPr id="6" name="Text 1"/>
          <p:cNvSpPr txBox="1"/>
          <p:nvPr/>
        </p:nvSpPr>
        <p:spPr>
          <a:xfrm>
            <a:off x="1326899" y="6641800"/>
            <a:ext cx="6535200" cy="2581200"/>
          </a:xfrm>
          <a:prstGeom prst="rect">
            <a:avLst/>
          </a:prstGeom>
          <a:noFill/>
          <a:ln/>
        </p:spPr>
        <p:txBody>
          <a:bodyPr wrap="square" lIns="0" tIns="0" rIns="0" bIns="0" rtlCol="0" anchor="ctr"/>
          <a:lstStyle/>
          <a:p>
            <a:pPr marL="0" indent="0" algn="l">
              <a:lnSpc>
                <a:spcPct val="115000"/>
              </a:lnSpc>
              <a:buNone/>
            </a:pPr>
            <a:r>
              <a:rPr lang="ru-RU" sz="3600" b="1" dirty="0">
                <a:solidFill>
                  <a:srgbClr val="1C3354"/>
                </a:solidFill>
                <a:latin typeface="Arial" pitchFamily="34" charset="0"/>
                <a:ea typeface="Arial" pitchFamily="34" charset="-122"/>
                <a:cs typeface="Arial" pitchFamily="34" charset="-120"/>
              </a:rPr>
              <a:t>Анализ речи</a:t>
            </a:r>
            <a:r>
              <a:rPr lang="en-US" sz="3068" dirty="0">
                <a:solidFill>
                  <a:srgbClr val="1C3354"/>
                </a:solidFill>
                <a:latin typeface="Arial" pitchFamily="34" charset="0"/>
                <a:ea typeface="Arial" pitchFamily="34" charset="-122"/>
                <a:cs typeface="Arial" pitchFamily="34" charset="-120"/>
              </a:rPr>
              <a:t>
</a:t>
            </a:r>
            <a:r>
              <a:rPr lang="ru-RU" sz="2813" dirty="0">
                <a:solidFill>
                  <a:srgbClr val="1C3354"/>
                </a:solidFill>
                <a:latin typeface="Arial" pitchFamily="34" charset="0"/>
                <a:ea typeface="Arial" pitchFamily="34" charset="-122"/>
                <a:cs typeface="Arial" pitchFamily="34" charset="-120"/>
              </a:rPr>
              <a:t>Не успел применить разные библиотеки для анализа речи и распознавания речи </a:t>
            </a:r>
          </a:p>
          <a:p>
            <a:pPr marL="0" indent="0" algn="l">
              <a:lnSpc>
                <a:spcPct val="115000"/>
              </a:lnSpc>
              <a:buNone/>
            </a:pPr>
            <a:r>
              <a:rPr lang="ru-RU" sz="2813" dirty="0">
                <a:solidFill>
                  <a:srgbClr val="1C3354"/>
                </a:solidFill>
                <a:latin typeface="Arial" pitchFamily="34" charset="0"/>
                <a:ea typeface="Arial" pitchFamily="34" charset="-122"/>
                <a:cs typeface="Arial" pitchFamily="34" charset="-120"/>
              </a:rPr>
              <a:t>Доверился </a:t>
            </a:r>
            <a:r>
              <a:rPr lang="ru-RU" sz="2813" dirty="0" err="1">
                <a:solidFill>
                  <a:srgbClr val="1C3354"/>
                </a:solidFill>
                <a:latin typeface="Arial" pitchFamily="34" charset="0"/>
                <a:ea typeface="Arial" pitchFamily="34" charset="-122"/>
                <a:cs typeface="Arial" pitchFamily="34" charset="-120"/>
              </a:rPr>
              <a:t>транскрибации</a:t>
            </a:r>
            <a:r>
              <a:rPr lang="en-US" sz="2813" dirty="0">
                <a:solidFill>
                  <a:srgbClr val="1C3354"/>
                </a:solidFill>
                <a:latin typeface="Arial" pitchFamily="34" charset="0"/>
                <a:ea typeface="Arial" pitchFamily="34" charset="-122"/>
                <a:cs typeface="Arial" pitchFamily="34" charset="-120"/>
              </a:rPr>
              <a:t>
</a:t>
            </a:r>
            <a:endParaRPr lang="en-US" sz="3068" dirty="0"/>
          </a:p>
        </p:txBody>
      </p:sp>
      <p:sp>
        <p:nvSpPr>
          <p:cNvPr id="7" name="Text 2"/>
          <p:cNvSpPr txBox="1"/>
          <p:nvPr/>
        </p:nvSpPr>
        <p:spPr>
          <a:xfrm>
            <a:off x="1326899" y="3001050"/>
            <a:ext cx="6987202" cy="2581200"/>
          </a:xfrm>
          <a:prstGeom prst="rect">
            <a:avLst/>
          </a:prstGeom>
          <a:noFill/>
          <a:ln/>
        </p:spPr>
        <p:txBody>
          <a:bodyPr wrap="square" lIns="0" tIns="0" rIns="0" bIns="0" rtlCol="0" anchor="ctr"/>
          <a:lstStyle/>
          <a:p>
            <a:pPr marL="0" indent="0" algn="l">
              <a:lnSpc>
                <a:spcPct val="115000"/>
              </a:lnSpc>
              <a:buNone/>
            </a:pPr>
            <a:r>
              <a:rPr lang="ru-RU" sz="3600" b="1" dirty="0">
                <a:solidFill>
                  <a:srgbClr val="000000"/>
                </a:solidFill>
                <a:latin typeface="Arial" pitchFamily="34" charset="0"/>
                <a:cs typeface="Arial" pitchFamily="34" charset="-120"/>
              </a:rPr>
              <a:t>Новый материал и технологии</a:t>
            </a:r>
          </a:p>
          <a:p>
            <a:pPr marL="0" indent="0" algn="l">
              <a:lnSpc>
                <a:spcPct val="115000"/>
              </a:lnSpc>
              <a:buNone/>
            </a:pPr>
            <a:r>
              <a:rPr lang="ru-RU" sz="2800" dirty="0">
                <a:solidFill>
                  <a:srgbClr val="000000"/>
                </a:solidFill>
                <a:latin typeface="Arial" pitchFamily="34" charset="0"/>
                <a:cs typeface="Arial" pitchFamily="34" charset="-120"/>
              </a:rPr>
              <a:t>Срочно разобраться и освоить новые технологии</a:t>
            </a:r>
          </a:p>
          <a:p>
            <a:pPr marL="0" indent="0" algn="l">
              <a:lnSpc>
                <a:spcPct val="115000"/>
              </a:lnSpc>
              <a:buNone/>
            </a:pPr>
            <a:endParaRPr lang="ru-RU" sz="2400" dirty="0">
              <a:solidFill>
                <a:srgbClr val="000000"/>
              </a:solidFill>
              <a:latin typeface="Arial" pitchFamily="34" charset="0"/>
              <a:cs typeface="Arial" pitchFamily="34" charset="-120"/>
            </a:endParaRPr>
          </a:p>
          <a:p>
            <a:pPr marL="0" indent="0" algn="l">
              <a:lnSpc>
                <a:spcPct val="115000"/>
              </a:lnSpc>
              <a:buNone/>
            </a:pPr>
            <a:endParaRPr lang="en-US" sz="2800" dirty="0"/>
          </a:p>
        </p:txBody>
      </p:sp>
      <p:sp>
        <p:nvSpPr>
          <p:cNvPr id="8" name="Text 3"/>
          <p:cNvSpPr txBox="1"/>
          <p:nvPr/>
        </p:nvSpPr>
        <p:spPr>
          <a:xfrm>
            <a:off x="10101251" y="2930000"/>
            <a:ext cx="6399600" cy="2581200"/>
          </a:xfrm>
          <a:prstGeom prst="rect">
            <a:avLst/>
          </a:prstGeom>
          <a:noFill/>
          <a:ln/>
        </p:spPr>
        <p:txBody>
          <a:bodyPr wrap="square" lIns="0" tIns="0" rIns="0" bIns="0" rtlCol="0" anchor="ctr"/>
          <a:lstStyle/>
          <a:p>
            <a:pPr marL="0" indent="0" algn="l">
              <a:lnSpc>
                <a:spcPct val="115000"/>
              </a:lnSpc>
              <a:buNone/>
            </a:pPr>
            <a:r>
              <a:rPr lang="ru-RU" sz="3600" b="1" dirty="0">
                <a:solidFill>
                  <a:srgbClr val="1C3354"/>
                </a:solidFill>
                <a:latin typeface="Arial" pitchFamily="34" charset="0"/>
                <a:ea typeface="Arial" pitchFamily="34" charset="-122"/>
                <a:cs typeface="Arial" pitchFamily="34" charset="-120"/>
              </a:rPr>
              <a:t>Нехватка времени </a:t>
            </a:r>
          </a:p>
          <a:p>
            <a:pPr marL="0" indent="0" algn="l">
              <a:lnSpc>
                <a:spcPct val="115000"/>
              </a:lnSpc>
              <a:buNone/>
            </a:pPr>
            <a:r>
              <a:rPr lang="ru-RU" sz="3600" b="1" dirty="0">
                <a:solidFill>
                  <a:srgbClr val="1C3354"/>
                </a:solidFill>
                <a:latin typeface="Arial" pitchFamily="34" charset="0"/>
                <a:ea typeface="Arial" pitchFamily="34" charset="-122"/>
                <a:cs typeface="Arial" pitchFamily="34" charset="-120"/>
              </a:rPr>
              <a:t>на разработку и расчеты</a:t>
            </a:r>
          </a:p>
          <a:p>
            <a:pPr marL="0" indent="0" algn="l">
              <a:lnSpc>
                <a:spcPct val="115000"/>
              </a:lnSpc>
              <a:buNone/>
            </a:pPr>
            <a:endParaRPr lang="ru-RU" sz="1200" b="1" dirty="0">
              <a:solidFill>
                <a:srgbClr val="1C3354"/>
              </a:solidFill>
              <a:latin typeface="Arial" pitchFamily="34" charset="0"/>
              <a:ea typeface="Arial" pitchFamily="34" charset="-122"/>
              <a:cs typeface="Arial" pitchFamily="34" charset="-120"/>
            </a:endParaRPr>
          </a:p>
          <a:p>
            <a:pPr marL="0" indent="0" algn="l">
              <a:lnSpc>
                <a:spcPct val="115000"/>
              </a:lnSpc>
              <a:buNone/>
            </a:pPr>
            <a:r>
              <a:rPr lang="ru-RU" sz="2400" dirty="0">
                <a:solidFill>
                  <a:srgbClr val="1C3354"/>
                </a:solidFill>
                <a:latin typeface="Arial" pitchFamily="34" charset="0"/>
                <a:ea typeface="Arial" pitchFamily="34" charset="-122"/>
                <a:cs typeface="Arial" pitchFamily="34" charset="-120"/>
              </a:rPr>
              <a:t>Скачивать </a:t>
            </a:r>
            <a:r>
              <a:rPr lang="ru-RU" sz="2400" dirty="0" err="1">
                <a:solidFill>
                  <a:srgbClr val="1C3354"/>
                </a:solidFill>
                <a:latin typeface="Arial" pitchFamily="34" charset="0"/>
                <a:ea typeface="Arial" pitchFamily="34" charset="-122"/>
                <a:cs typeface="Arial" pitchFamily="34" charset="-120"/>
              </a:rPr>
              <a:t>по-новой</a:t>
            </a:r>
            <a:endParaRPr lang="ru-RU" sz="2400" dirty="0">
              <a:solidFill>
                <a:srgbClr val="1C3354"/>
              </a:solidFill>
              <a:latin typeface="Arial" pitchFamily="34" charset="0"/>
              <a:ea typeface="Arial" pitchFamily="34" charset="-122"/>
              <a:cs typeface="Arial" pitchFamily="34" charset="-120"/>
            </a:endParaRPr>
          </a:p>
          <a:p>
            <a:pPr marL="0" indent="0" algn="l">
              <a:lnSpc>
                <a:spcPct val="115000"/>
              </a:lnSpc>
              <a:buNone/>
            </a:pPr>
            <a:r>
              <a:rPr lang="ru-RU" sz="2400" dirty="0">
                <a:solidFill>
                  <a:srgbClr val="1C3354"/>
                </a:solidFill>
                <a:latin typeface="Arial" pitchFamily="34" charset="0"/>
                <a:cs typeface="Arial" pitchFamily="34" charset="-120"/>
              </a:rPr>
              <a:t>Обсчитывать </a:t>
            </a:r>
            <a:r>
              <a:rPr lang="ru-RU" sz="2400" dirty="0" err="1">
                <a:solidFill>
                  <a:srgbClr val="1C3354"/>
                </a:solidFill>
                <a:latin typeface="Arial" pitchFamily="34" charset="0"/>
                <a:cs typeface="Arial" pitchFamily="34" charset="-120"/>
              </a:rPr>
              <a:t>по-новой</a:t>
            </a:r>
            <a:endParaRPr lang="ru-RU" sz="2400" dirty="0">
              <a:solidFill>
                <a:srgbClr val="1C3354"/>
              </a:solidFill>
              <a:latin typeface="Arial" pitchFamily="34" charset="0"/>
              <a:cs typeface="Arial" pitchFamily="34" charset="-120"/>
            </a:endParaRPr>
          </a:p>
          <a:p>
            <a:pPr marL="0" indent="0" algn="l">
              <a:lnSpc>
                <a:spcPct val="115000"/>
              </a:lnSpc>
              <a:buNone/>
            </a:pPr>
            <a:r>
              <a:rPr lang="ru-RU" sz="2400" dirty="0">
                <a:solidFill>
                  <a:srgbClr val="1C3354"/>
                </a:solidFill>
                <a:latin typeface="Arial" pitchFamily="34" charset="0"/>
                <a:cs typeface="Arial" pitchFamily="34" charset="-120"/>
              </a:rPr>
              <a:t>Ресурсы и Организация времени</a:t>
            </a:r>
            <a:endParaRPr lang="en-US" sz="2000" dirty="0"/>
          </a:p>
        </p:txBody>
      </p:sp>
      <p:sp>
        <p:nvSpPr>
          <p:cNvPr id="9" name="Text 4"/>
          <p:cNvSpPr txBox="1"/>
          <p:nvPr/>
        </p:nvSpPr>
        <p:spPr>
          <a:xfrm>
            <a:off x="10101250" y="6190475"/>
            <a:ext cx="6963067" cy="2886638"/>
          </a:xfrm>
          <a:prstGeom prst="rect">
            <a:avLst/>
          </a:prstGeom>
          <a:noFill/>
          <a:ln/>
        </p:spPr>
        <p:txBody>
          <a:bodyPr wrap="square" lIns="0" tIns="0" rIns="0" bIns="0" rtlCol="0" anchor="ctr"/>
          <a:lstStyle/>
          <a:p>
            <a:pPr marL="0" indent="0" algn="l">
              <a:lnSpc>
                <a:spcPct val="115000"/>
              </a:lnSpc>
              <a:buNone/>
            </a:pPr>
            <a:r>
              <a:rPr lang="ru-RU" sz="3200" b="1" dirty="0">
                <a:solidFill>
                  <a:srgbClr val="1C3354"/>
                </a:solidFill>
                <a:latin typeface="Arial" pitchFamily="34" charset="0"/>
                <a:ea typeface="Arial" pitchFamily="34" charset="-122"/>
                <a:cs typeface="Arial" pitchFamily="34" charset="-120"/>
              </a:rPr>
              <a:t>-    Асинхронное скачивание</a:t>
            </a:r>
          </a:p>
          <a:p>
            <a:pPr marL="571500" indent="-571500" algn="l">
              <a:lnSpc>
                <a:spcPct val="115000"/>
              </a:lnSpc>
              <a:buFontTx/>
              <a:buChar char="-"/>
            </a:pPr>
            <a:r>
              <a:rPr lang="ru-RU" sz="3200" b="1" dirty="0">
                <a:solidFill>
                  <a:srgbClr val="1C3354"/>
                </a:solidFill>
                <a:latin typeface="Arial" pitchFamily="34" charset="0"/>
                <a:ea typeface="Arial" pitchFamily="34" charset="-122"/>
                <a:cs typeface="Arial" pitchFamily="34" charset="-120"/>
              </a:rPr>
              <a:t>Вывод прогресса обработки</a:t>
            </a:r>
          </a:p>
          <a:p>
            <a:pPr marL="571500" indent="-571500" algn="l">
              <a:lnSpc>
                <a:spcPct val="115000"/>
              </a:lnSpc>
              <a:buFontTx/>
              <a:buChar char="-"/>
            </a:pPr>
            <a:r>
              <a:rPr lang="ru-RU" sz="3200" b="1" dirty="0" err="1">
                <a:solidFill>
                  <a:srgbClr val="1C3354"/>
                </a:solidFill>
                <a:latin typeface="Arial" pitchFamily="34" charset="0"/>
                <a:ea typeface="Arial" pitchFamily="34" charset="-122"/>
                <a:cs typeface="Arial" pitchFamily="34" charset="-120"/>
              </a:rPr>
              <a:t>Контейниразция</a:t>
            </a:r>
            <a:endParaRPr lang="en-US" sz="2940" dirty="0"/>
          </a:p>
        </p:txBody>
      </p:sp>
      <p:sp>
        <p:nvSpPr>
          <p:cNvPr id="10" name="Text 5"/>
          <p:cNvSpPr txBox="1"/>
          <p:nvPr/>
        </p:nvSpPr>
        <p:spPr>
          <a:xfrm>
            <a:off x="123775" y="9536150"/>
            <a:ext cx="1029000" cy="746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3</a:t>
            </a:r>
            <a:endParaRPr lang="en-US" sz="2200" dirty="0"/>
          </a:p>
        </p:txBody>
      </p:sp>
    </p:spTree>
    <p:extLst>
      <p:ext uri="{BB962C8B-B14F-4D97-AF65-F5344CB8AC3E}">
        <p14:creationId xmlns:p14="http://schemas.microsoft.com/office/powerpoint/2010/main" val="1048386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pic>
        <p:nvPicPr>
          <p:cNvPr id="3" name="Image 1" descr="preencoded.png"/>
          <p:cNvPicPr>
            <a:picLocks noChangeAspect="1"/>
          </p:cNvPicPr>
          <p:nvPr/>
        </p:nvPicPr>
        <p:blipFill>
          <a:blip r:embed="rId4"/>
          <a:stretch>
            <a:fillRect/>
          </a:stretch>
        </p:blipFill>
        <p:spPr>
          <a:xfrm>
            <a:off x="0" y="0"/>
            <a:ext cx="18288000" cy="10287000"/>
          </a:xfrm>
          <a:prstGeom prst="rect">
            <a:avLst/>
          </a:prstGeom>
        </p:spPr>
      </p:pic>
      <p:sp>
        <p:nvSpPr>
          <p:cNvPr id="6" name="Text 1"/>
          <p:cNvSpPr txBox="1"/>
          <p:nvPr/>
        </p:nvSpPr>
        <p:spPr>
          <a:xfrm>
            <a:off x="123775" y="9536150"/>
            <a:ext cx="1028700" cy="746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7</a:t>
            </a:r>
            <a:endParaRPr lang="en-US" sz="2200" dirty="0"/>
          </a:p>
        </p:txBody>
      </p:sp>
      <p:sp>
        <p:nvSpPr>
          <p:cNvPr id="7" name="Text 2"/>
          <p:cNvSpPr txBox="1"/>
          <p:nvPr/>
        </p:nvSpPr>
        <p:spPr>
          <a:xfrm>
            <a:off x="638125" y="205802"/>
            <a:ext cx="14651388" cy="672352"/>
          </a:xfrm>
          <a:prstGeom prst="rect">
            <a:avLst/>
          </a:prstGeom>
          <a:noFill/>
          <a:ln/>
        </p:spPr>
        <p:txBody>
          <a:bodyPr wrap="square" lIns="0" tIns="0" rIns="0" bIns="0" rtlCol="0" anchor="ctr"/>
          <a:lstStyle/>
          <a:p>
            <a:pPr marL="0" indent="0" algn="l">
              <a:lnSpc>
                <a:spcPct val="120000"/>
              </a:lnSpc>
              <a:buNone/>
            </a:pPr>
            <a:r>
              <a:rPr lang="en-US" sz="4600" b="1" dirty="0">
                <a:solidFill>
                  <a:srgbClr val="000000"/>
                </a:solidFill>
                <a:latin typeface="Arial" pitchFamily="34" charset="0"/>
                <a:ea typeface="Arial" pitchFamily="34" charset="-122"/>
                <a:cs typeface="Arial" pitchFamily="34" charset="-120"/>
              </a:rPr>
              <a:t>Используемая модель и </a:t>
            </a:r>
            <a:r>
              <a:rPr lang="en-US" sz="4600" b="1" dirty="0" err="1">
                <a:solidFill>
                  <a:srgbClr val="000000"/>
                </a:solidFill>
                <a:latin typeface="Arial" pitchFamily="34" charset="0"/>
                <a:ea typeface="Arial" pitchFamily="34" charset="-122"/>
                <a:cs typeface="Arial" pitchFamily="34" charset="-120"/>
              </a:rPr>
              <a:t>ключевые</a:t>
            </a:r>
            <a:r>
              <a:rPr lang="en-US" sz="4600" b="1" dirty="0">
                <a:solidFill>
                  <a:srgbClr val="000000"/>
                </a:solidFill>
                <a:latin typeface="Arial" pitchFamily="34" charset="0"/>
                <a:ea typeface="Arial" pitchFamily="34" charset="-122"/>
                <a:cs typeface="Arial" pitchFamily="34" charset="-120"/>
              </a:rPr>
              <a:t> </a:t>
            </a:r>
            <a:r>
              <a:rPr lang="en-US" sz="4600" b="1" dirty="0" err="1">
                <a:solidFill>
                  <a:srgbClr val="000000"/>
                </a:solidFill>
                <a:latin typeface="Arial" pitchFamily="34" charset="0"/>
                <a:ea typeface="Arial" pitchFamily="34" charset="-122"/>
                <a:cs typeface="Arial" pitchFamily="34" charset="-120"/>
              </a:rPr>
              <a:t>признаки</a:t>
            </a:r>
            <a:endParaRPr lang="en-US" sz="4600" dirty="0"/>
          </a:p>
        </p:txBody>
      </p:sp>
      <p:pic>
        <p:nvPicPr>
          <p:cNvPr id="12" name="Рисунок 11">
            <a:extLst>
              <a:ext uri="{FF2B5EF4-FFF2-40B4-BE49-F238E27FC236}">
                <a16:creationId xmlns:a16="http://schemas.microsoft.com/office/drawing/2014/main" id="{875068F2-488C-4F27-A2E5-B3489F8458A3}"/>
              </a:ext>
            </a:extLst>
          </p:cNvPr>
          <p:cNvPicPr>
            <a:picLocks noChangeAspect="1"/>
          </p:cNvPicPr>
          <p:nvPr/>
        </p:nvPicPr>
        <p:blipFill>
          <a:blip r:embed="rId5"/>
          <a:stretch>
            <a:fillRect/>
          </a:stretch>
        </p:blipFill>
        <p:spPr>
          <a:xfrm>
            <a:off x="585350" y="1317230"/>
            <a:ext cx="6503939" cy="8530694"/>
          </a:xfrm>
          <a:prstGeom prst="rect">
            <a:avLst/>
          </a:prstGeom>
        </p:spPr>
      </p:pic>
      <p:pic>
        <p:nvPicPr>
          <p:cNvPr id="16" name="Рисунок 15">
            <a:extLst>
              <a:ext uri="{FF2B5EF4-FFF2-40B4-BE49-F238E27FC236}">
                <a16:creationId xmlns:a16="http://schemas.microsoft.com/office/drawing/2014/main" id="{05A77050-B136-403F-AA3E-96773F7D0D20}"/>
              </a:ext>
            </a:extLst>
          </p:cNvPr>
          <p:cNvPicPr>
            <a:picLocks noChangeAspect="1"/>
          </p:cNvPicPr>
          <p:nvPr/>
        </p:nvPicPr>
        <p:blipFill>
          <a:blip r:embed="rId6"/>
          <a:stretch>
            <a:fillRect/>
          </a:stretch>
        </p:blipFill>
        <p:spPr>
          <a:xfrm>
            <a:off x="7273935" y="1572171"/>
            <a:ext cx="10144317" cy="2946952"/>
          </a:xfrm>
          <a:prstGeom prst="rect">
            <a:avLst/>
          </a:prstGeom>
        </p:spPr>
      </p:pic>
      <p:pic>
        <p:nvPicPr>
          <p:cNvPr id="5" name="Рисунок 4">
            <a:extLst>
              <a:ext uri="{FF2B5EF4-FFF2-40B4-BE49-F238E27FC236}">
                <a16:creationId xmlns:a16="http://schemas.microsoft.com/office/drawing/2014/main" id="{9CA4D5CC-B493-4B58-ACD6-C91A02C139C1}"/>
              </a:ext>
            </a:extLst>
          </p:cNvPr>
          <p:cNvPicPr>
            <a:picLocks noChangeAspect="1"/>
          </p:cNvPicPr>
          <p:nvPr/>
        </p:nvPicPr>
        <p:blipFill>
          <a:blip r:embed="rId7"/>
          <a:stretch>
            <a:fillRect/>
          </a:stretch>
        </p:blipFill>
        <p:spPr>
          <a:xfrm>
            <a:off x="7294212" y="5213140"/>
            <a:ext cx="10164594" cy="412490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pic>
        <p:nvPicPr>
          <p:cNvPr id="3" name="Image 1" descr="preencoded.png"/>
          <p:cNvPicPr>
            <a:picLocks noChangeAspect="1"/>
          </p:cNvPicPr>
          <p:nvPr/>
        </p:nvPicPr>
        <p:blipFill>
          <a:blip r:embed="rId4"/>
          <a:stretch>
            <a:fillRect/>
          </a:stretch>
        </p:blipFill>
        <p:spPr>
          <a:xfrm>
            <a:off x="0" y="0"/>
            <a:ext cx="18288000" cy="10287000"/>
          </a:xfrm>
          <a:prstGeom prst="rect">
            <a:avLst/>
          </a:prstGeom>
        </p:spPr>
      </p:pic>
      <p:sp>
        <p:nvSpPr>
          <p:cNvPr id="6" name="Text 1"/>
          <p:cNvSpPr txBox="1"/>
          <p:nvPr/>
        </p:nvSpPr>
        <p:spPr>
          <a:xfrm>
            <a:off x="123775" y="9536150"/>
            <a:ext cx="1028700" cy="746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7</a:t>
            </a:r>
            <a:endParaRPr lang="en-US" sz="2200" dirty="0"/>
          </a:p>
        </p:txBody>
      </p:sp>
      <p:sp>
        <p:nvSpPr>
          <p:cNvPr id="7" name="Text 2"/>
          <p:cNvSpPr txBox="1"/>
          <p:nvPr/>
        </p:nvSpPr>
        <p:spPr>
          <a:xfrm>
            <a:off x="638125" y="205802"/>
            <a:ext cx="14651388" cy="672352"/>
          </a:xfrm>
          <a:prstGeom prst="rect">
            <a:avLst/>
          </a:prstGeom>
          <a:noFill/>
          <a:ln/>
        </p:spPr>
        <p:txBody>
          <a:bodyPr wrap="square" lIns="0" tIns="0" rIns="0" bIns="0" rtlCol="0" anchor="ctr"/>
          <a:lstStyle/>
          <a:p>
            <a:pPr marL="0" indent="0" algn="l">
              <a:lnSpc>
                <a:spcPct val="120000"/>
              </a:lnSpc>
              <a:buNone/>
            </a:pPr>
            <a:r>
              <a:rPr lang="en-US" sz="4600" b="1" dirty="0">
                <a:solidFill>
                  <a:srgbClr val="000000"/>
                </a:solidFill>
                <a:latin typeface="Arial" pitchFamily="34" charset="0"/>
                <a:ea typeface="Arial" pitchFamily="34" charset="-122"/>
                <a:cs typeface="Arial" pitchFamily="34" charset="-120"/>
              </a:rPr>
              <a:t>Используемая модель и </a:t>
            </a:r>
            <a:r>
              <a:rPr lang="en-US" sz="4600" b="1" dirty="0" err="1">
                <a:solidFill>
                  <a:srgbClr val="000000"/>
                </a:solidFill>
                <a:latin typeface="Arial" pitchFamily="34" charset="0"/>
                <a:ea typeface="Arial" pitchFamily="34" charset="-122"/>
                <a:cs typeface="Arial" pitchFamily="34" charset="-120"/>
              </a:rPr>
              <a:t>ключевые</a:t>
            </a:r>
            <a:r>
              <a:rPr lang="en-US" sz="4600" b="1" dirty="0">
                <a:solidFill>
                  <a:srgbClr val="000000"/>
                </a:solidFill>
                <a:latin typeface="Arial" pitchFamily="34" charset="0"/>
                <a:ea typeface="Arial" pitchFamily="34" charset="-122"/>
                <a:cs typeface="Arial" pitchFamily="34" charset="-120"/>
              </a:rPr>
              <a:t> </a:t>
            </a:r>
            <a:r>
              <a:rPr lang="en-US" sz="4600" b="1" dirty="0" err="1">
                <a:solidFill>
                  <a:srgbClr val="000000"/>
                </a:solidFill>
                <a:latin typeface="Arial" pitchFamily="34" charset="0"/>
                <a:ea typeface="Arial" pitchFamily="34" charset="-122"/>
                <a:cs typeface="Arial" pitchFamily="34" charset="-120"/>
              </a:rPr>
              <a:t>признаки</a:t>
            </a:r>
            <a:endParaRPr lang="en-US" sz="4600" dirty="0"/>
          </a:p>
        </p:txBody>
      </p:sp>
      <p:pic>
        <p:nvPicPr>
          <p:cNvPr id="8" name="Рисунок 7">
            <a:extLst>
              <a:ext uri="{FF2B5EF4-FFF2-40B4-BE49-F238E27FC236}">
                <a16:creationId xmlns:a16="http://schemas.microsoft.com/office/drawing/2014/main" id="{01F74CC0-8E7D-4660-B436-E9ED59C86CC9}"/>
              </a:ext>
            </a:extLst>
          </p:cNvPr>
          <p:cNvPicPr>
            <a:picLocks noChangeAspect="1"/>
          </p:cNvPicPr>
          <p:nvPr/>
        </p:nvPicPr>
        <p:blipFill>
          <a:blip r:embed="rId5"/>
          <a:stretch>
            <a:fillRect/>
          </a:stretch>
        </p:blipFill>
        <p:spPr>
          <a:xfrm>
            <a:off x="638125" y="1296158"/>
            <a:ext cx="4617938" cy="8361016"/>
          </a:xfrm>
          <a:prstGeom prst="rect">
            <a:avLst/>
          </a:prstGeom>
        </p:spPr>
      </p:pic>
      <p:pic>
        <p:nvPicPr>
          <p:cNvPr id="13" name="Рисунок 12">
            <a:extLst>
              <a:ext uri="{FF2B5EF4-FFF2-40B4-BE49-F238E27FC236}">
                <a16:creationId xmlns:a16="http://schemas.microsoft.com/office/drawing/2014/main" id="{2DF398DF-540A-43F9-81B8-9B49080D9D3C}"/>
              </a:ext>
            </a:extLst>
          </p:cNvPr>
          <p:cNvPicPr>
            <a:picLocks noChangeAspect="1"/>
          </p:cNvPicPr>
          <p:nvPr/>
        </p:nvPicPr>
        <p:blipFill>
          <a:blip r:embed="rId6"/>
          <a:stretch>
            <a:fillRect/>
          </a:stretch>
        </p:blipFill>
        <p:spPr>
          <a:xfrm>
            <a:off x="5622210" y="1296158"/>
            <a:ext cx="11858965" cy="4857486"/>
          </a:xfrm>
          <a:prstGeom prst="rect">
            <a:avLst/>
          </a:prstGeom>
        </p:spPr>
      </p:pic>
    </p:spTree>
    <p:extLst>
      <p:ext uri="{BB962C8B-B14F-4D97-AF65-F5344CB8AC3E}">
        <p14:creationId xmlns:p14="http://schemas.microsoft.com/office/powerpoint/2010/main" val="1245390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pic>
        <p:nvPicPr>
          <p:cNvPr id="3" name="Image 1" descr="preencoded.png"/>
          <p:cNvPicPr>
            <a:picLocks noChangeAspect="1"/>
          </p:cNvPicPr>
          <p:nvPr/>
        </p:nvPicPr>
        <p:blipFill>
          <a:blip r:embed="rId4"/>
          <a:stretch>
            <a:fillRect/>
          </a:stretch>
        </p:blipFill>
        <p:spPr>
          <a:xfrm>
            <a:off x="0" y="0"/>
            <a:ext cx="18288000" cy="10287000"/>
          </a:xfrm>
          <a:prstGeom prst="rect">
            <a:avLst/>
          </a:prstGeom>
        </p:spPr>
      </p:pic>
      <p:pic>
        <p:nvPicPr>
          <p:cNvPr id="4" name="Image 2" descr="preencoded.png"/>
          <p:cNvPicPr>
            <a:picLocks noChangeAspect="1"/>
          </p:cNvPicPr>
          <p:nvPr/>
        </p:nvPicPr>
        <p:blipFill>
          <a:blip r:embed="rId5"/>
          <a:stretch>
            <a:fillRect/>
          </a:stretch>
        </p:blipFill>
        <p:spPr>
          <a:xfrm>
            <a:off x="0" y="0"/>
            <a:ext cx="18288000" cy="10287000"/>
          </a:xfrm>
          <a:prstGeom prst="rect">
            <a:avLst/>
          </a:prstGeom>
        </p:spPr>
      </p:pic>
      <p:pic>
        <p:nvPicPr>
          <p:cNvPr id="5" name="Image 3" descr="preencoded.png"/>
          <p:cNvPicPr>
            <a:picLocks noChangeAspect="1"/>
          </p:cNvPicPr>
          <p:nvPr/>
        </p:nvPicPr>
        <p:blipFill>
          <a:blip r:embed="rId6"/>
          <a:stretch>
            <a:fillRect/>
          </a:stretch>
        </p:blipFill>
        <p:spPr>
          <a:xfrm>
            <a:off x="0" y="0"/>
            <a:ext cx="18288000" cy="10287000"/>
          </a:xfrm>
          <a:prstGeom prst="rect">
            <a:avLst/>
          </a:prstGeom>
        </p:spPr>
      </p:pic>
      <p:pic>
        <p:nvPicPr>
          <p:cNvPr id="6" name="Image 4" descr="preencoded.png"/>
          <p:cNvPicPr>
            <a:picLocks noChangeAspect="1"/>
          </p:cNvPicPr>
          <p:nvPr/>
        </p:nvPicPr>
        <p:blipFill>
          <a:blip r:embed="rId7"/>
          <a:stretch>
            <a:fillRect/>
          </a:stretch>
        </p:blipFill>
        <p:spPr>
          <a:xfrm>
            <a:off x="0" y="0"/>
            <a:ext cx="18288000" cy="10287000"/>
          </a:xfrm>
          <a:prstGeom prst="rect">
            <a:avLst/>
          </a:prstGeom>
        </p:spPr>
      </p:pic>
      <p:pic>
        <p:nvPicPr>
          <p:cNvPr id="7" name="Image 5" descr="preencoded.png"/>
          <p:cNvPicPr>
            <a:picLocks noChangeAspect="1"/>
          </p:cNvPicPr>
          <p:nvPr/>
        </p:nvPicPr>
        <p:blipFill>
          <a:blip r:embed="rId8"/>
          <a:stretch>
            <a:fillRect/>
          </a:stretch>
        </p:blipFill>
        <p:spPr>
          <a:xfrm>
            <a:off x="0" y="0"/>
            <a:ext cx="18288000" cy="10287000"/>
          </a:xfrm>
          <a:prstGeom prst="rect">
            <a:avLst/>
          </a:prstGeom>
        </p:spPr>
      </p:pic>
      <p:sp>
        <p:nvSpPr>
          <p:cNvPr id="8" name="Text 0"/>
          <p:cNvSpPr txBox="1"/>
          <p:nvPr/>
        </p:nvSpPr>
        <p:spPr>
          <a:xfrm>
            <a:off x="1458892" y="886492"/>
            <a:ext cx="15065400" cy="1524000"/>
          </a:xfrm>
          <a:prstGeom prst="rect">
            <a:avLst/>
          </a:prstGeom>
          <a:noFill/>
          <a:ln/>
        </p:spPr>
        <p:txBody>
          <a:bodyPr wrap="square" lIns="0" tIns="0" rIns="0" bIns="0" rtlCol="0" anchor="ctr"/>
          <a:lstStyle/>
          <a:p>
            <a:pPr marL="0" indent="0" algn="ctr">
              <a:lnSpc>
                <a:spcPct val="100000"/>
              </a:lnSpc>
              <a:buNone/>
            </a:pPr>
            <a:r>
              <a:rPr lang="en-US" sz="4600" b="1" dirty="0">
                <a:solidFill>
                  <a:srgbClr val="000000"/>
                </a:solidFill>
                <a:latin typeface="Arial" pitchFamily="34" charset="0"/>
                <a:ea typeface="Arial" pitchFamily="34" charset="-122"/>
                <a:cs typeface="Arial" pitchFamily="34" charset="-120"/>
              </a:rPr>
              <a:t>Целевой рынок и клиентская база
</a:t>
            </a:r>
            <a:endParaRPr lang="en-US" sz="4600" dirty="0"/>
          </a:p>
        </p:txBody>
      </p:sp>
      <p:sp>
        <p:nvSpPr>
          <p:cNvPr id="9" name="Text 1"/>
          <p:cNvSpPr txBox="1"/>
          <p:nvPr/>
        </p:nvSpPr>
        <p:spPr>
          <a:xfrm>
            <a:off x="123775" y="9536150"/>
            <a:ext cx="1029000" cy="746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8</a:t>
            </a:r>
            <a:endParaRPr lang="en-US" sz="2200" dirty="0"/>
          </a:p>
        </p:txBody>
      </p:sp>
      <p:sp>
        <p:nvSpPr>
          <p:cNvPr id="10" name="Text 2"/>
          <p:cNvSpPr txBox="1"/>
          <p:nvPr/>
        </p:nvSpPr>
        <p:spPr>
          <a:xfrm>
            <a:off x="3046900" y="3598000"/>
            <a:ext cx="3802500" cy="1977000"/>
          </a:xfrm>
          <a:prstGeom prst="rect">
            <a:avLst/>
          </a:prstGeom>
          <a:noFill/>
          <a:ln/>
        </p:spPr>
        <p:txBody>
          <a:bodyPr wrap="square" lIns="0" tIns="0" rIns="0" bIns="0" rtlCol="0" anchor="t"/>
          <a:lstStyle/>
          <a:p>
            <a:pPr marL="0" indent="0" algn="l">
              <a:lnSpc>
                <a:spcPct val="100000"/>
              </a:lnSpc>
              <a:buNone/>
            </a:pPr>
            <a:r>
              <a:rPr lang="en-US" sz="2511" b="1" dirty="0">
                <a:solidFill>
                  <a:srgbClr val="000000"/>
                </a:solidFill>
                <a:latin typeface="Arial" pitchFamily="34" charset="0"/>
                <a:ea typeface="Arial" pitchFamily="34" charset="-122"/>
                <a:cs typeface="Arial" pitchFamily="34" charset="-120"/>
              </a:rPr>
              <a:t>Образовательные центры
</a:t>
            </a:r>
            <a:r>
              <a:rPr lang="en-US" sz="1738" b="1" dirty="0">
                <a:solidFill>
                  <a:srgbClr val="000000"/>
                </a:solidFill>
                <a:latin typeface="Arial" pitchFamily="34" charset="0"/>
                <a:ea typeface="Arial" pitchFamily="34" charset="-122"/>
                <a:cs typeface="Arial" pitchFamily="34" charset="-120"/>
              </a:rPr>
              <a:t>
</a:t>
            </a:r>
            <a:r>
              <a:rPr lang="ru-RU" sz="1738" dirty="0">
                <a:solidFill>
                  <a:srgbClr val="000000"/>
                </a:solidFill>
                <a:latin typeface="Arial" pitchFamily="34" charset="0"/>
                <a:ea typeface="Arial" pitchFamily="34" charset="-122"/>
                <a:cs typeface="Arial" pitchFamily="34" charset="-120"/>
              </a:rPr>
              <a:t>Я</a:t>
            </a:r>
            <a:r>
              <a:rPr lang="en-US" sz="1738" dirty="0" err="1">
                <a:solidFill>
                  <a:srgbClr val="000000"/>
                </a:solidFill>
                <a:latin typeface="Arial" pitchFamily="34" charset="0"/>
                <a:ea typeface="Arial" pitchFamily="34" charset="-122"/>
                <a:cs typeface="Arial" pitchFamily="34" charset="-120"/>
              </a:rPr>
              <a:t>зыковые</a:t>
            </a:r>
            <a:r>
              <a:rPr lang="en-US" sz="1738" dirty="0">
                <a:solidFill>
                  <a:srgbClr val="000000"/>
                </a:solidFill>
                <a:latin typeface="Arial" pitchFamily="34" charset="0"/>
                <a:ea typeface="Arial" pitchFamily="34" charset="-122"/>
                <a:cs typeface="Arial" pitchFamily="34" charset="-120"/>
              </a:rPr>
              <a:t> </a:t>
            </a:r>
            <a:r>
              <a:rPr lang="en-US" sz="1738" dirty="0" err="1">
                <a:solidFill>
                  <a:srgbClr val="000000"/>
                </a:solidFill>
                <a:latin typeface="Arial" pitchFamily="34" charset="0"/>
                <a:ea typeface="Arial" pitchFamily="34" charset="-122"/>
                <a:cs typeface="Arial" pitchFamily="34" charset="-120"/>
              </a:rPr>
              <a:t>школы</a:t>
            </a:r>
            <a:endParaRPr lang="ru-RU" sz="1738" dirty="0">
              <a:solidFill>
                <a:srgbClr val="000000"/>
              </a:solidFill>
              <a:latin typeface="Arial" pitchFamily="34" charset="0"/>
              <a:ea typeface="Arial" pitchFamily="34" charset="-122"/>
              <a:cs typeface="Arial" pitchFamily="34" charset="-120"/>
            </a:endParaRPr>
          </a:p>
          <a:p>
            <a:pPr marL="0" indent="0" algn="l">
              <a:lnSpc>
                <a:spcPct val="100000"/>
              </a:lnSpc>
              <a:buNone/>
            </a:pPr>
            <a:r>
              <a:rPr lang="en-US" sz="1738" dirty="0" err="1">
                <a:solidFill>
                  <a:srgbClr val="000000"/>
                </a:solidFill>
                <a:latin typeface="Arial" pitchFamily="34" charset="0"/>
                <a:ea typeface="Arial" pitchFamily="34" charset="-122"/>
                <a:cs typeface="Arial" pitchFamily="34" charset="-120"/>
              </a:rPr>
              <a:t>подготовительные</a:t>
            </a:r>
            <a:r>
              <a:rPr lang="en-US" sz="1738" dirty="0">
                <a:solidFill>
                  <a:srgbClr val="000000"/>
                </a:solidFill>
                <a:latin typeface="Arial" pitchFamily="34" charset="0"/>
                <a:ea typeface="Arial" pitchFamily="34" charset="-122"/>
                <a:cs typeface="Arial" pitchFamily="34" charset="-120"/>
              </a:rPr>
              <a:t> </a:t>
            </a:r>
            <a:r>
              <a:rPr lang="en-US" sz="1738" dirty="0" err="1">
                <a:solidFill>
                  <a:srgbClr val="000000"/>
                </a:solidFill>
                <a:latin typeface="Arial" pitchFamily="34" charset="0"/>
                <a:ea typeface="Arial" pitchFamily="34" charset="-122"/>
                <a:cs typeface="Arial" pitchFamily="34" charset="-120"/>
              </a:rPr>
              <a:t>центры</a:t>
            </a:r>
            <a:endParaRPr lang="ru-RU" sz="1738" dirty="0">
              <a:solidFill>
                <a:srgbClr val="000000"/>
              </a:solidFill>
              <a:latin typeface="Arial" pitchFamily="34" charset="0"/>
              <a:ea typeface="Arial" pitchFamily="34" charset="-122"/>
              <a:cs typeface="Arial" pitchFamily="34" charset="-120"/>
            </a:endParaRPr>
          </a:p>
          <a:p>
            <a:pPr marL="0" indent="0" algn="l">
              <a:lnSpc>
                <a:spcPct val="100000"/>
              </a:lnSpc>
              <a:buNone/>
            </a:pPr>
            <a:endParaRPr lang="en-US" sz="2511" dirty="0"/>
          </a:p>
        </p:txBody>
      </p:sp>
      <p:sp>
        <p:nvSpPr>
          <p:cNvPr id="11" name="Text 3"/>
          <p:cNvSpPr txBox="1"/>
          <p:nvPr/>
        </p:nvSpPr>
        <p:spPr>
          <a:xfrm>
            <a:off x="9925825" y="3598000"/>
            <a:ext cx="3802500" cy="1977000"/>
          </a:xfrm>
          <a:prstGeom prst="rect">
            <a:avLst/>
          </a:prstGeom>
          <a:noFill/>
          <a:ln/>
        </p:spPr>
        <p:txBody>
          <a:bodyPr wrap="square" lIns="0" tIns="0" rIns="0" bIns="0" rtlCol="0" anchor="t"/>
          <a:lstStyle/>
          <a:p>
            <a:pPr marL="0" indent="0" algn="l">
              <a:lnSpc>
                <a:spcPct val="100000"/>
              </a:lnSpc>
              <a:buNone/>
            </a:pPr>
            <a:r>
              <a:rPr lang="ru-RU" sz="2600" b="1" dirty="0">
                <a:solidFill>
                  <a:srgbClr val="000000"/>
                </a:solidFill>
                <a:latin typeface="Arial" pitchFamily="34" charset="0"/>
                <a:ea typeface="Arial" pitchFamily="34" charset="-122"/>
                <a:cs typeface="Arial" pitchFamily="34" charset="-120"/>
              </a:rPr>
              <a:t>Крупные компании</a:t>
            </a:r>
            <a:r>
              <a:rPr lang="en-US" sz="2600" b="1" dirty="0">
                <a:solidFill>
                  <a:srgbClr val="000000"/>
                </a:solidFill>
                <a:latin typeface="Arial" pitchFamily="34" charset="0"/>
                <a:ea typeface="Arial" pitchFamily="34" charset="-122"/>
                <a:cs typeface="Arial" pitchFamily="34" charset="-120"/>
              </a:rPr>
              <a:t>
</a:t>
            </a:r>
            <a:r>
              <a:rPr lang="en-US" sz="1800" b="1" dirty="0">
                <a:solidFill>
                  <a:srgbClr val="000000"/>
                </a:solidFill>
                <a:latin typeface="Arial" pitchFamily="34" charset="0"/>
                <a:ea typeface="Arial" pitchFamily="34" charset="-122"/>
                <a:cs typeface="Arial" pitchFamily="34" charset="-120"/>
              </a:rPr>
              <a:t>
</a:t>
            </a:r>
            <a:r>
              <a:rPr lang="ru-RU" sz="1800" dirty="0">
                <a:solidFill>
                  <a:srgbClr val="000000"/>
                </a:solidFill>
                <a:latin typeface="Arial" pitchFamily="34" charset="0"/>
                <a:ea typeface="Arial" pitchFamily="34" charset="-122"/>
                <a:cs typeface="Arial" pitchFamily="34" charset="-120"/>
              </a:rPr>
              <a:t>Применение </a:t>
            </a:r>
            <a:r>
              <a:rPr lang="en-US" sz="1800" dirty="0" err="1">
                <a:solidFill>
                  <a:srgbClr val="000000"/>
                </a:solidFill>
                <a:latin typeface="Arial" pitchFamily="34" charset="0"/>
                <a:ea typeface="Arial" pitchFamily="34" charset="-122"/>
                <a:cs typeface="Arial" pitchFamily="34" charset="-120"/>
              </a:rPr>
              <a:t>инструмент</a:t>
            </a:r>
            <a:r>
              <a:rPr lang="ru-RU" sz="1800" dirty="0">
                <a:solidFill>
                  <a:srgbClr val="000000"/>
                </a:solidFill>
                <a:latin typeface="Arial" pitchFamily="34" charset="0"/>
                <a:ea typeface="Arial" pitchFamily="34" charset="-122"/>
                <a:cs typeface="Arial" pitchFamily="34" charset="-120"/>
              </a:rPr>
              <a:t>а</a:t>
            </a:r>
            <a:r>
              <a:rPr lang="en-US" sz="1800" dirty="0">
                <a:solidFill>
                  <a:srgbClr val="000000"/>
                </a:solidFill>
                <a:latin typeface="Arial" pitchFamily="34" charset="0"/>
                <a:ea typeface="Arial" pitchFamily="34" charset="-122"/>
                <a:cs typeface="Arial" pitchFamily="34" charset="-120"/>
              </a:rPr>
              <a:t> в HR и обучающих подразделениях.
</a:t>
            </a:r>
            <a:endParaRPr lang="en-US" sz="2600" dirty="0"/>
          </a:p>
        </p:txBody>
      </p:sp>
      <p:sp>
        <p:nvSpPr>
          <p:cNvPr id="12" name="Text 4"/>
          <p:cNvSpPr txBox="1"/>
          <p:nvPr/>
        </p:nvSpPr>
        <p:spPr>
          <a:xfrm>
            <a:off x="6528162" y="7328250"/>
            <a:ext cx="3802500" cy="1977000"/>
          </a:xfrm>
          <a:prstGeom prst="rect">
            <a:avLst/>
          </a:prstGeom>
          <a:noFill/>
          <a:ln/>
        </p:spPr>
        <p:txBody>
          <a:bodyPr wrap="square" lIns="0" tIns="0" rIns="0" bIns="0" rtlCol="0" anchor="t"/>
          <a:lstStyle/>
          <a:p>
            <a:pPr marL="0" indent="0" algn="l">
              <a:lnSpc>
                <a:spcPct val="100000"/>
              </a:lnSpc>
              <a:buNone/>
            </a:pPr>
            <a:r>
              <a:rPr lang="en-US" sz="2531" b="1" dirty="0">
                <a:solidFill>
                  <a:srgbClr val="000000"/>
                </a:solidFill>
                <a:latin typeface="Arial" pitchFamily="34" charset="0"/>
                <a:ea typeface="Arial" pitchFamily="34" charset="-122"/>
                <a:cs typeface="Arial" pitchFamily="34" charset="-120"/>
              </a:rPr>
              <a:t>Государственные учреждения
</a:t>
            </a:r>
            <a:r>
              <a:rPr lang="en-US" sz="1753" b="1" dirty="0">
                <a:solidFill>
                  <a:srgbClr val="000000"/>
                </a:solidFill>
                <a:latin typeface="Arial" pitchFamily="34" charset="0"/>
                <a:ea typeface="Arial" pitchFamily="34" charset="-122"/>
                <a:cs typeface="Arial" pitchFamily="34" charset="-120"/>
              </a:rPr>
              <a:t>
</a:t>
            </a:r>
            <a:r>
              <a:rPr lang="ru-RU" sz="1753" dirty="0">
                <a:solidFill>
                  <a:srgbClr val="000000"/>
                </a:solidFill>
                <a:latin typeface="Arial" pitchFamily="34" charset="0"/>
                <a:ea typeface="Arial" pitchFamily="34" charset="-122"/>
                <a:cs typeface="Arial" pitchFamily="34" charset="-120"/>
              </a:rPr>
              <a:t>- ВУЗы</a:t>
            </a:r>
          </a:p>
          <a:p>
            <a:pPr marL="0" indent="0" algn="l">
              <a:lnSpc>
                <a:spcPct val="100000"/>
              </a:lnSpc>
              <a:buNone/>
            </a:pPr>
            <a:r>
              <a:rPr lang="ru-RU" sz="1753" dirty="0">
                <a:solidFill>
                  <a:srgbClr val="000000"/>
                </a:solidFill>
                <a:latin typeface="Arial" pitchFamily="34" charset="0"/>
                <a:ea typeface="Arial" pitchFamily="34" charset="-122"/>
                <a:cs typeface="Arial" pitchFamily="34" charset="-120"/>
              </a:rPr>
              <a:t>- Сертификационные центры</a:t>
            </a:r>
            <a:r>
              <a:rPr lang="en-US" sz="1753" dirty="0">
                <a:solidFill>
                  <a:srgbClr val="000000"/>
                </a:solidFill>
                <a:latin typeface="Arial" pitchFamily="34" charset="0"/>
                <a:ea typeface="Arial" pitchFamily="34" charset="-122"/>
                <a:cs typeface="Arial" pitchFamily="34" charset="-120"/>
              </a:rPr>
              <a:t>
</a:t>
            </a:r>
            <a:endParaRPr lang="en-US" sz="2531" dirty="0"/>
          </a:p>
        </p:txBody>
      </p:sp>
      <p:sp>
        <p:nvSpPr>
          <p:cNvPr id="13" name="Text 5"/>
          <p:cNvSpPr txBox="1"/>
          <p:nvPr/>
        </p:nvSpPr>
        <p:spPr>
          <a:xfrm>
            <a:off x="13375125" y="7328250"/>
            <a:ext cx="3802500" cy="1977000"/>
          </a:xfrm>
          <a:prstGeom prst="rect">
            <a:avLst/>
          </a:prstGeom>
          <a:noFill/>
          <a:ln/>
        </p:spPr>
        <p:txBody>
          <a:bodyPr wrap="square" lIns="0" tIns="0" rIns="0" bIns="0" rtlCol="0" anchor="t"/>
          <a:lstStyle/>
          <a:p>
            <a:pPr marL="0" indent="0" algn="l">
              <a:lnSpc>
                <a:spcPct val="100000"/>
              </a:lnSpc>
              <a:buNone/>
            </a:pPr>
            <a:r>
              <a:rPr lang="en-US" sz="2511" b="1" dirty="0">
                <a:solidFill>
                  <a:srgbClr val="000000"/>
                </a:solidFill>
                <a:latin typeface="Arial" pitchFamily="34" charset="0"/>
                <a:ea typeface="Arial" pitchFamily="34" charset="-122"/>
                <a:cs typeface="Arial" pitchFamily="34" charset="-120"/>
              </a:rPr>
              <a:t>Размер рынка EdTech
</a:t>
            </a:r>
            <a:r>
              <a:rPr lang="en-US" sz="1738" b="1" dirty="0">
                <a:solidFill>
                  <a:srgbClr val="000000"/>
                </a:solidFill>
                <a:latin typeface="Arial" pitchFamily="34" charset="0"/>
                <a:ea typeface="Arial" pitchFamily="34" charset="-122"/>
                <a:cs typeface="Arial" pitchFamily="34" charset="-120"/>
              </a:rPr>
              <a:t>
</a:t>
            </a:r>
            <a:r>
              <a:rPr lang="en-US" sz="1738" dirty="0">
                <a:solidFill>
                  <a:srgbClr val="000000"/>
                </a:solidFill>
                <a:latin typeface="Arial" pitchFamily="34" charset="0"/>
                <a:ea typeface="Arial" pitchFamily="34" charset="-122"/>
                <a:cs typeface="Arial" pitchFamily="34" charset="-120"/>
              </a:rPr>
              <a:t>Общий </a:t>
            </a:r>
            <a:r>
              <a:rPr lang="en-US" sz="1738" dirty="0" err="1">
                <a:solidFill>
                  <a:srgbClr val="000000"/>
                </a:solidFill>
                <a:latin typeface="Arial" pitchFamily="34" charset="0"/>
                <a:ea typeface="Arial" pitchFamily="34" charset="-122"/>
                <a:cs typeface="Arial" pitchFamily="34" charset="-120"/>
              </a:rPr>
              <a:t>рынок</a:t>
            </a:r>
            <a:r>
              <a:rPr lang="en-US" sz="1738" dirty="0">
                <a:solidFill>
                  <a:srgbClr val="000000"/>
                </a:solidFill>
                <a:latin typeface="Arial" pitchFamily="34" charset="0"/>
                <a:ea typeface="Arial" pitchFamily="34" charset="-122"/>
                <a:cs typeface="Arial" pitchFamily="34" charset="-120"/>
              </a:rPr>
              <a:t> EdTech </a:t>
            </a:r>
            <a:r>
              <a:rPr lang="en-US" sz="1738" dirty="0" err="1">
                <a:solidFill>
                  <a:srgbClr val="000000"/>
                </a:solidFill>
                <a:latin typeface="Arial" pitchFamily="34" charset="0"/>
                <a:ea typeface="Arial" pitchFamily="34" charset="-122"/>
                <a:cs typeface="Arial" pitchFamily="34" charset="-120"/>
              </a:rPr>
              <a:t>России</a:t>
            </a:r>
            <a:r>
              <a:rPr lang="en-US" sz="1738" dirty="0">
                <a:solidFill>
                  <a:srgbClr val="000000"/>
                </a:solidFill>
                <a:latin typeface="Arial" pitchFamily="34" charset="0"/>
                <a:ea typeface="Arial" pitchFamily="34" charset="-122"/>
                <a:cs typeface="Arial" pitchFamily="34" charset="-120"/>
              </a:rPr>
              <a:t> оценивается в </a:t>
            </a:r>
            <a:r>
              <a:rPr lang="ru-RU" sz="1738" dirty="0">
                <a:solidFill>
                  <a:srgbClr val="000000"/>
                </a:solidFill>
                <a:latin typeface="Arial" pitchFamily="34" charset="0"/>
                <a:ea typeface="Arial" pitchFamily="34" charset="-122"/>
                <a:cs typeface="Arial" pitchFamily="34" charset="-120"/>
              </a:rPr>
              <a:t>144 </a:t>
            </a:r>
            <a:r>
              <a:rPr lang="en-US" sz="1738" dirty="0" err="1">
                <a:solidFill>
                  <a:srgbClr val="000000"/>
                </a:solidFill>
                <a:latin typeface="Arial" pitchFamily="34" charset="0"/>
                <a:ea typeface="Arial" pitchFamily="34" charset="-122"/>
                <a:cs typeface="Arial" pitchFamily="34" charset="-120"/>
              </a:rPr>
              <a:t>млрд</a:t>
            </a:r>
            <a:r>
              <a:rPr lang="en-US" sz="1738" dirty="0">
                <a:solidFill>
                  <a:srgbClr val="000000"/>
                </a:solidFill>
                <a:latin typeface="Arial" pitchFamily="34" charset="0"/>
                <a:ea typeface="Arial" pitchFamily="34" charset="-122"/>
                <a:cs typeface="Arial" pitchFamily="34" charset="-120"/>
              </a:rPr>
              <a:t> рублей, ниша автоматизации – 150 млн рублей, ожидаемая доля продукта – 15 млн за 3 года.
</a:t>
            </a:r>
            <a:endParaRPr lang="en-US" sz="251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pic>
        <p:nvPicPr>
          <p:cNvPr id="3" name="Image 1" descr="preencoded.png"/>
          <p:cNvPicPr>
            <a:picLocks noChangeAspect="1"/>
          </p:cNvPicPr>
          <p:nvPr/>
        </p:nvPicPr>
        <p:blipFill>
          <a:blip r:embed="rId4"/>
          <a:stretch>
            <a:fillRect/>
          </a:stretch>
        </p:blipFill>
        <p:spPr>
          <a:xfrm>
            <a:off x="0" y="0"/>
            <a:ext cx="18288000" cy="10287000"/>
          </a:xfrm>
          <a:prstGeom prst="rect">
            <a:avLst/>
          </a:prstGeom>
        </p:spPr>
      </p:pic>
      <p:pic>
        <p:nvPicPr>
          <p:cNvPr id="4" name="Image 2" descr="preencoded.png"/>
          <p:cNvPicPr>
            <a:picLocks noChangeAspect="1"/>
          </p:cNvPicPr>
          <p:nvPr/>
        </p:nvPicPr>
        <p:blipFill>
          <a:blip r:embed="rId5"/>
          <a:stretch>
            <a:fillRect/>
          </a:stretch>
        </p:blipFill>
        <p:spPr>
          <a:xfrm>
            <a:off x="0" y="0"/>
            <a:ext cx="18288000" cy="10287000"/>
          </a:xfrm>
          <a:prstGeom prst="rect">
            <a:avLst/>
          </a:prstGeom>
        </p:spPr>
      </p:pic>
      <p:pic>
        <p:nvPicPr>
          <p:cNvPr id="5" name="Image 3" descr="preencoded.png"/>
          <p:cNvPicPr>
            <a:picLocks noChangeAspect="1"/>
          </p:cNvPicPr>
          <p:nvPr/>
        </p:nvPicPr>
        <p:blipFill>
          <a:blip r:embed="rId6"/>
          <a:stretch>
            <a:fillRect/>
          </a:stretch>
        </p:blipFill>
        <p:spPr>
          <a:xfrm>
            <a:off x="0" y="0"/>
            <a:ext cx="18288000" cy="10287000"/>
          </a:xfrm>
          <a:prstGeom prst="rect">
            <a:avLst/>
          </a:prstGeom>
        </p:spPr>
      </p:pic>
      <p:pic>
        <p:nvPicPr>
          <p:cNvPr id="6" name="Image 4" descr="preencoded.png"/>
          <p:cNvPicPr>
            <a:picLocks noChangeAspect="1"/>
          </p:cNvPicPr>
          <p:nvPr/>
        </p:nvPicPr>
        <p:blipFill>
          <a:blip r:embed="rId7"/>
          <a:stretch>
            <a:fillRect/>
          </a:stretch>
        </p:blipFill>
        <p:spPr>
          <a:xfrm>
            <a:off x="0" y="0"/>
            <a:ext cx="18288000" cy="10287000"/>
          </a:xfrm>
          <a:prstGeom prst="rect">
            <a:avLst/>
          </a:prstGeom>
        </p:spPr>
      </p:pic>
      <p:pic>
        <p:nvPicPr>
          <p:cNvPr id="7" name="Image 5" descr="preencoded.png"/>
          <p:cNvPicPr>
            <a:picLocks noChangeAspect="1"/>
          </p:cNvPicPr>
          <p:nvPr/>
        </p:nvPicPr>
        <p:blipFill>
          <a:blip r:embed="rId8"/>
          <a:stretch>
            <a:fillRect/>
          </a:stretch>
        </p:blipFill>
        <p:spPr>
          <a:xfrm>
            <a:off x="0" y="0"/>
            <a:ext cx="18288000" cy="10287000"/>
          </a:xfrm>
          <a:prstGeom prst="rect">
            <a:avLst/>
          </a:prstGeom>
        </p:spPr>
      </p:pic>
      <p:sp>
        <p:nvSpPr>
          <p:cNvPr id="8" name="Text 0"/>
          <p:cNvSpPr txBox="1"/>
          <p:nvPr/>
        </p:nvSpPr>
        <p:spPr>
          <a:xfrm>
            <a:off x="1458892" y="886492"/>
            <a:ext cx="15065400" cy="1524000"/>
          </a:xfrm>
          <a:prstGeom prst="rect">
            <a:avLst/>
          </a:prstGeom>
          <a:noFill/>
          <a:ln/>
        </p:spPr>
        <p:txBody>
          <a:bodyPr wrap="square" lIns="0" tIns="0" rIns="0" bIns="0" rtlCol="0" anchor="ctr"/>
          <a:lstStyle/>
          <a:p>
            <a:pPr marL="0" indent="0" algn="ctr">
              <a:lnSpc>
                <a:spcPct val="100000"/>
              </a:lnSpc>
              <a:buNone/>
            </a:pPr>
            <a:r>
              <a:rPr lang="en-US" sz="4600" b="1" dirty="0">
                <a:solidFill>
                  <a:srgbClr val="000000"/>
                </a:solidFill>
                <a:latin typeface="Arial" pitchFamily="34" charset="0"/>
                <a:ea typeface="Arial" pitchFamily="34" charset="-122"/>
                <a:cs typeface="Arial" pitchFamily="34" charset="-120"/>
              </a:rPr>
              <a:t>Целевой рынок и клиентская база
</a:t>
            </a:r>
            <a:endParaRPr lang="en-US" sz="4600" dirty="0"/>
          </a:p>
        </p:txBody>
      </p:sp>
      <p:sp>
        <p:nvSpPr>
          <p:cNvPr id="9" name="Text 1"/>
          <p:cNvSpPr txBox="1"/>
          <p:nvPr/>
        </p:nvSpPr>
        <p:spPr>
          <a:xfrm>
            <a:off x="123775" y="9536150"/>
            <a:ext cx="1029000" cy="746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8</a:t>
            </a:r>
            <a:endParaRPr lang="en-US" sz="2200" dirty="0"/>
          </a:p>
        </p:txBody>
      </p:sp>
      <p:sp>
        <p:nvSpPr>
          <p:cNvPr id="10" name="Text 2"/>
          <p:cNvSpPr txBox="1"/>
          <p:nvPr/>
        </p:nvSpPr>
        <p:spPr>
          <a:xfrm>
            <a:off x="3046900" y="3598000"/>
            <a:ext cx="3802500" cy="1977000"/>
          </a:xfrm>
          <a:prstGeom prst="rect">
            <a:avLst/>
          </a:prstGeom>
          <a:noFill/>
          <a:ln/>
        </p:spPr>
        <p:txBody>
          <a:bodyPr wrap="square" lIns="0" tIns="0" rIns="0" bIns="0" rtlCol="0" anchor="t"/>
          <a:lstStyle/>
          <a:p>
            <a:pPr marL="0" indent="0" algn="l">
              <a:lnSpc>
                <a:spcPct val="100000"/>
              </a:lnSpc>
              <a:buNone/>
            </a:pPr>
            <a:r>
              <a:rPr lang="en-US" sz="2511" b="1" dirty="0">
                <a:solidFill>
                  <a:srgbClr val="000000"/>
                </a:solidFill>
                <a:latin typeface="Arial" pitchFamily="34" charset="0"/>
                <a:ea typeface="Arial" pitchFamily="34" charset="-122"/>
                <a:cs typeface="Arial" pitchFamily="34" charset="-120"/>
              </a:rPr>
              <a:t>Образовательные центры
</a:t>
            </a:r>
            <a:r>
              <a:rPr lang="en-US" sz="1738" b="1" dirty="0">
                <a:solidFill>
                  <a:srgbClr val="000000"/>
                </a:solidFill>
                <a:latin typeface="Arial" pitchFamily="34" charset="0"/>
                <a:ea typeface="Arial" pitchFamily="34" charset="-122"/>
                <a:cs typeface="Arial" pitchFamily="34" charset="-120"/>
              </a:rPr>
              <a:t>
</a:t>
            </a:r>
            <a:r>
              <a:rPr lang="ru-RU" sz="1738" dirty="0">
                <a:solidFill>
                  <a:srgbClr val="000000"/>
                </a:solidFill>
                <a:latin typeface="Arial" pitchFamily="34" charset="0"/>
                <a:ea typeface="Arial" pitchFamily="34" charset="-122"/>
                <a:cs typeface="Arial" pitchFamily="34" charset="-120"/>
              </a:rPr>
              <a:t>Я</a:t>
            </a:r>
            <a:r>
              <a:rPr lang="en-US" sz="1738" dirty="0" err="1">
                <a:solidFill>
                  <a:srgbClr val="000000"/>
                </a:solidFill>
                <a:latin typeface="Arial" pitchFamily="34" charset="0"/>
                <a:ea typeface="Arial" pitchFamily="34" charset="-122"/>
                <a:cs typeface="Arial" pitchFamily="34" charset="-120"/>
              </a:rPr>
              <a:t>зыковые</a:t>
            </a:r>
            <a:r>
              <a:rPr lang="en-US" sz="1738" dirty="0">
                <a:solidFill>
                  <a:srgbClr val="000000"/>
                </a:solidFill>
                <a:latin typeface="Arial" pitchFamily="34" charset="0"/>
                <a:ea typeface="Arial" pitchFamily="34" charset="-122"/>
                <a:cs typeface="Arial" pitchFamily="34" charset="-120"/>
              </a:rPr>
              <a:t> </a:t>
            </a:r>
            <a:r>
              <a:rPr lang="en-US" sz="1738" dirty="0" err="1">
                <a:solidFill>
                  <a:srgbClr val="000000"/>
                </a:solidFill>
                <a:latin typeface="Arial" pitchFamily="34" charset="0"/>
                <a:ea typeface="Arial" pitchFamily="34" charset="-122"/>
                <a:cs typeface="Arial" pitchFamily="34" charset="-120"/>
              </a:rPr>
              <a:t>школы</a:t>
            </a:r>
            <a:endParaRPr lang="ru-RU" sz="1738" dirty="0">
              <a:solidFill>
                <a:srgbClr val="000000"/>
              </a:solidFill>
              <a:latin typeface="Arial" pitchFamily="34" charset="0"/>
              <a:ea typeface="Arial" pitchFamily="34" charset="-122"/>
              <a:cs typeface="Arial" pitchFamily="34" charset="-120"/>
            </a:endParaRPr>
          </a:p>
          <a:p>
            <a:pPr marL="0" indent="0" algn="l">
              <a:lnSpc>
                <a:spcPct val="100000"/>
              </a:lnSpc>
              <a:buNone/>
            </a:pPr>
            <a:r>
              <a:rPr lang="en-US" sz="1738" dirty="0" err="1">
                <a:solidFill>
                  <a:srgbClr val="000000"/>
                </a:solidFill>
                <a:latin typeface="Arial" pitchFamily="34" charset="0"/>
                <a:ea typeface="Arial" pitchFamily="34" charset="-122"/>
                <a:cs typeface="Arial" pitchFamily="34" charset="-120"/>
              </a:rPr>
              <a:t>подготовительные</a:t>
            </a:r>
            <a:r>
              <a:rPr lang="en-US" sz="1738" dirty="0">
                <a:solidFill>
                  <a:srgbClr val="000000"/>
                </a:solidFill>
                <a:latin typeface="Arial" pitchFamily="34" charset="0"/>
                <a:ea typeface="Arial" pitchFamily="34" charset="-122"/>
                <a:cs typeface="Arial" pitchFamily="34" charset="-120"/>
              </a:rPr>
              <a:t> </a:t>
            </a:r>
            <a:r>
              <a:rPr lang="en-US" sz="1738" dirty="0" err="1">
                <a:solidFill>
                  <a:srgbClr val="000000"/>
                </a:solidFill>
                <a:latin typeface="Arial" pitchFamily="34" charset="0"/>
                <a:ea typeface="Arial" pitchFamily="34" charset="-122"/>
                <a:cs typeface="Arial" pitchFamily="34" charset="-120"/>
              </a:rPr>
              <a:t>центры</a:t>
            </a:r>
            <a:endParaRPr lang="ru-RU" sz="1738" dirty="0">
              <a:solidFill>
                <a:srgbClr val="000000"/>
              </a:solidFill>
              <a:latin typeface="Arial" pitchFamily="34" charset="0"/>
              <a:ea typeface="Arial" pitchFamily="34" charset="-122"/>
              <a:cs typeface="Arial" pitchFamily="34" charset="-120"/>
            </a:endParaRPr>
          </a:p>
          <a:p>
            <a:pPr marL="0" indent="0" algn="l">
              <a:lnSpc>
                <a:spcPct val="100000"/>
              </a:lnSpc>
              <a:buNone/>
            </a:pPr>
            <a:endParaRPr lang="en-US" sz="2511" dirty="0"/>
          </a:p>
        </p:txBody>
      </p:sp>
      <p:sp>
        <p:nvSpPr>
          <p:cNvPr id="11" name="Text 3"/>
          <p:cNvSpPr txBox="1"/>
          <p:nvPr/>
        </p:nvSpPr>
        <p:spPr>
          <a:xfrm>
            <a:off x="9925825" y="3598000"/>
            <a:ext cx="3802500" cy="1977000"/>
          </a:xfrm>
          <a:prstGeom prst="rect">
            <a:avLst/>
          </a:prstGeom>
          <a:noFill/>
          <a:ln/>
        </p:spPr>
        <p:txBody>
          <a:bodyPr wrap="square" lIns="0" tIns="0" rIns="0" bIns="0" rtlCol="0" anchor="t"/>
          <a:lstStyle/>
          <a:p>
            <a:pPr marL="0" indent="0" algn="l">
              <a:lnSpc>
                <a:spcPct val="100000"/>
              </a:lnSpc>
              <a:buNone/>
            </a:pPr>
            <a:r>
              <a:rPr lang="ru-RU" sz="2600" b="1" dirty="0">
                <a:solidFill>
                  <a:srgbClr val="000000"/>
                </a:solidFill>
                <a:latin typeface="Arial" pitchFamily="34" charset="0"/>
                <a:ea typeface="Arial" pitchFamily="34" charset="-122"/>
                <a:cs typeface="Arial" pitchFamily="34" charset="-120"/>
              </a:rPr>
              <a:t>Крупные компании</a:t>
            </a:r>
            <a:r>
              <a:rPr lang="en-US" sz="2600" b="1" dirty="0">
                <a:solidFill>
                  <a:srgbClr val="000000"/>
                </a:solidFill>
                <a:latin typeface="Arial" pitchFamily="34" charset="0"/>
                <a:ea typeface="Arial" pitchFamily="34" charset="-122"/>
                <a:cs typeface="Arial" pitchFamily="34" charset="-120"/>
              </a:rPr>
              <a:t>
</a:t>
            </a:r>
            <a:r>
              <a:rPr lang="en-US" sz="1800" b="1" dirty="0">
                <a:solidFill>
                  <a:srgbClr val="000000"/>
                </a:solidFill>
                <a:latin typeface="Arial" pitchFamily="34" charset="0"/>
                <a:ea typeface="Arial" pitchFamily="34" charset="-122"/>
                <a:cs typeface="Arial" pitchFamily="34" charset="-120"/>
              </a:rPr>
              <a:t>
</a:t>
            </a:r>
            <a:r>
              <a:rPr lang="ru-RU" sz="1800" dirty="0">
                <a:solidFill>
                  <a:srgbClr val="000000"/>
                </a:solidFill>
                <a:latin typeface="Arial" pitchFamily="34" charset="0"/>
                <a:ea typeface="Arial" pitchFamily="34" charset="-122"/>
                <a:cs typeface="Arial" pitchFamily="34" charset="-120"/>
              </a:rPr>
              <a:t>Применение </a:t>
            </a:r>
            <a:r>
              <a:rPr lang="en-US" sz="1800" dirty="0" err="1">
                <a:solidFill>
                  <a:srgbClr val="000000"/>
                </a:solidFill>
                <a:latin typeface="Arial" pitchFamily="34" charset="0"/>
                <a:ea typeface="Arial" pitchFamily="34" charset="-122"/>
                <a:cs typeface="Arial" pitchFamily="34" charset="-120"/>
              </a:rPr>
              <a:t>инструмент</a:t>
            </a:r>
            <a:r>
              <a:rPr lang="ru-RU" sz="1800" dirty="0">
                <a:solidFill>
                  <a:srgbClr val="000000"/>
                </a:solidFill>
                <a:latin typeface="Arial" pitchFamily="34" charset="0"/>
                <a:ea typeface="Arial" pitchFamily="34" charset="-122"/>
                <a:cs typeface="Arial" pitchFamily="34" charset="-120"/>
              </a:rPr>
              <a:t>а</a:t>
            </a:r>
            <a:r>
              <a:rPr lang="en-US" sz="1800" dirty="0">
                <a:solidFill>
                  <a:srgbClr val="000000"/>
                </a:solidFill>
                <a:latin typeface="Arial" pitchFamily="34" charset="0"/>
                <a:ea typeface="Arial" pitchFamily="34" charset="-122"/>
                <a:cs typeface="Arial" pitchFamily="34" charset="-120"/>
              </a:rPr>
              <a:t> в HR и обучающих подразделениях.
</a:t>
            </a:r>
            <a:endParaRPr lang="en-US" sz="2600" dirty="0"/>
          </a:p>
        </p:txBody>
      </p:sp>
      <p:sp>
        <p:nvSpPr>
          <p:cNvPr id="12" name="Text 4"/>
          <p:cNvSpPr txBox="1"/>
          <p:nvPr/>
        </p:nvSpPr>
        <p:spPr>
          <a:xfrm>
            <a:off x="6528162" y="7328250"/>
            <a:ext cx="3802500" cy="1977000"/>
          </a:xfrm>
          <a:prstGeom prst="rect">
            <a:avLst/>
          </a:prstGeom>
          <a:noFill/>
          <a:ln/>
        </p:spPr>
        <p:txBody>
          <a:bodyPr wrap="square" lIns="0" tIns="0" rIns="0" bIns="0" rtlCol="0" anchor="t"/>
          <a:lstStyle/>
          <a:p>
            <a:pPr marL="0" indent="0" algn="l">
              <a:lnSpc>
                <a:spcPct val="100000"/>
              </a:lnSpc>
              <a:buNone/>
            </a:pPr>
            <a:r>
              <a:rPr lang="en-US" sz="2531" b="1" dirty="0">
                <a:solidFill>
                  <a:srgbClr val="000000"/>
                </a:solidFill>
                <a:latin typeface="Arial" pitchFamily="34" charset="0"/>
                <a:ea typeface="Arial" pitchFamily="34" charset="-122"/>
                <a:cs typeface="Arial" pitchFamily="34" charset="-120"/>
              </a:rPr>
              <a:t>Государственные учреждения
</a:t>
            </a:r>
            <a:r>
              <a:rPr lang="en-US" sz="1753" b="1" dirty="0">
                <a:solidFill>
                  <a:srgbClr val="000000"/>
                </a:solidFill>
                <a:latin typeface="Arial" pitchFamily="34" charset="0"/>
                <a:ea typeface="Arial" pitchFamily="34" charset="-122"/>
                <a:cs typeface="Arial" pitchFamily="34" charset="-120"/>
              </a:rPr>
              <a:t>
</a:t>
            </a:r>
            <a:r>
              <a:rPr lang="ru-RU" sz="1753" dirty="0">
                <a:solidFill>
                  <a:srgbClr val="000000"/>
                </a:solidFill>
                <a:latin typeface="Arial" pitchFamily="34" charset="0"/>
                <a:ea typeface="Arial" pitchFamily="34" charset="-122"/>
                <a:cs typeface="Arial" pitchFamily="34" charset="-120"/>
              </a:rPr>
              <a:t>- ВУЗы</a:t>
            </a:r>
          </a:p>
          <a:p>
            <a:pPr marL="0" indent="0" algn="l">
              <a:lnSpc>
                <a:spcPct val="100000"/>
              </a:lnSpc>
              <a:buNone/>
            </a:pPr>
            <a:r>
              <a:rPr lang="ru-RU" sz="1753" dirty="0">
                <a:solidFill>
                  <a:srgbClr val="000000"/>
                </a:solidFill>
                <a:latin typeface="Arial" pitchFamily="34" charset="0"/>
                <a:ea typeface="Arial" pitchFamily="34" charset="-122"/>
                <a:cs typeface="Arial" pitchFamily="34" charset="-120"/>
              </a:rPr>
              <a:t>- Сертификационные центры</a:t>
            </a:r>
            <a:r>
              <a:rPr lang="en-US" sz="1753" dirty="0">
                <a:solidFill>
                  <a:srgbClr val="000000"/>
                </a:solidFill>
                <a:latin typeface="Arial" pitchFamily="34" charset="0"/>
                <a:ea typeface="Arial" pitchFamily="34" charset="-122"/>
                <a:cs typeface="Arial" pitchFamily="34" charset="-120"/>
              </a:rPr>
              <a:t>
</a:t>
            </a:r>
            <a:endParaRPr lang="en-US" sz="2531" dirty="0"/>
          </a:p>
        </p:txBody>
      </p:sp>
      <p:sp>
        <p:nvSpPr>
          <p:cNvPr id="13" name="Text 5"/>
          <p:cNvSpPr txBox="1"/>
          <p:nvPr/>
        </p:nvSpPr>
        <p:spPr>
          <a:xfrm>
            <a:off x="13375125" y="7328250"/>
            <a:ext cx="3802500" cy="1977000"/>
          </a:xfrm>
          <a:prstGeom prst="rect">
            <a:avLst/>
          </a:prstGeom>
          <a:noFill/>
          <a:ln/>
        </p:spPr>
        <p:txBody>
          <a:bodyPr wrap="square" lIns="0" tIns="0" rIns="0" bIns="0" rtlCol="0" anchor="t"/>
          <a:lstStyle/>
          <a:p>
            <a:pPr marL="0" indent="0" algn="l">
              <a:lnSpc>
                <a:spcPct val="100000"/>
              </a:lnSpc>
              <a:buNone/>
            </a:pPr>
            <a:r>
              <a:rPr lang="en-US" sz="2511" b="1" dirty="0">
                <a:solidFill>
                  <a:srgbClr val="000000"/>
                </a:solidFill>
                <a:latin typeface="Arial" pitchFamily="34" charset="0"/>
                <a:ea typeface="Arial" pitchFamily="34" charset="-122"/>
                <a:cs typeface="Arial" pitchFamily="34" charset="-120"/>
              </a:rPr>
              <a:t>Размер рынка EdTech
</a:t>
            </a:r>
            <a:r>
              <a:rPr lang="en-US" sz="1738" b="1" dirty="0">
                <a:solidFill>
                  <a:srgbClr val="000000"/>
                </a:solidFill>
                <a:latin typeface="Arial" pitchFamily="34" charset="0"/>
                <a:ea typeface="Arial" pitchFamily="34" charset="-122"/>
                <a:cs typeface="Arial" pitchFamily="34" charset="-120"/>
              </a:rPr>
              <a:t>
</a:t>
            </a:r>
            <a:r>
              <a:rPr lang="en-US" sz="1738" dirty="0">
                <a:solidFill>
                  <a:srgbClr val="000000"/>
                </a:solidFill>
                <a:latin typeface="Arial" pitchFamily="34" charset="0"/>
                <a:ea typeface="Arial" pitchFamily="34" charset="-122"/>
                <a:cs typeface="Arial" pitchFamily="34" charset="-120"/>
              </a:rPr>
              <a:t>Общий </a:t>
            </a:r>
            <a:r>
              <a:rPr lang="en-US" sz="1738" dirty="0" err="1">
                <a:solidFill>
                  <a:srgbClr val="000000"/>
                </a:solidFill>
                <a:latin typeface="Arial" pitchFamily="34" charset="0"/>
                <a:ea typeface="Arial" pitchFamily="34" charset="-122"/>
                <a:cs typeface="Arial" pitchFamily="34" charset="-120"/>
              </a:rPr>
              <a:t>рынок</a:t>
            </a:r>
            <a:r>
              <a:rPr lang="en-US" sz="1738" dirty="0">
                <a:solidFill>
                  <a:srgbClr val="000000"/>
                </a:solidFill>
                <a:latin typeface="Arial" pitchFamily="34" charset="0"/>
                <a:ea typeface="Arial" pitchFamily="34" charset="-122"/>
                <a:cs typeface="Arial" pitchFamily="34" charset="-120"/>
              </a:rPr>
              <a:t> EdTech </a:t>
            </a:r>
            <a:r>
              <a:rPr lang="en-US" sz="1738" dirty="0" err="1">
                <a:solidFill>
                  <a:srgbClr val="000000"/>
                </a:solidFill>
                <a:latin typeface="Arial" pitchFamily="34" charset="0"/>
                <a:ea typeface="Arial" pitchFamily="34" charset="-122"/>
                <a:cs typeface="Arial" pitchFamily="34" charset="-120"/>
              </a:rPr>
              <a:t>России</a:t>
            </a:r>
            <a:r>
              <a:rPr lang="en-US" sz="1738" dirty="0">
                <a:solidFill>
                  <a:srgbClr val="000000"/>
                </a:solidFill>
                <a:latin typeface="Arial" pitchFamily="34" charset="0"/>
                <a:ea typeface="Arial" pitchFamily="34" charset="-122"/>
                <a:cs typeface="Arial" pitchFamily="34" charset="-120"/>
              </a:rPr>
              <a:t> оценивается в </a:t>
            </a:r>
            <a:r>
              <a:rPr lang="ru-RU" sz="1738" dirty="0">
                <a:solidFill>
                  <a:srgbClr val="000000"/>
                </a:solidFill>
                <a:latin typeface="Arial" pitchFamily="34" charset="0"/>
                <a:ea typeface="Arial" pitchFamily="34" charset="-122"/>
                <a:cs typeface="Arial" pitchFamily="34" charset="-120"/>
              </a:rPr>
              <a:t>144 </a:t>
            </a:r>
            <a:r>
              <a:rPr lang="en-US" sz="1738" dirty="0" err="1">
                <a:solidFill>
                  <a:srgbClr val="000000"/>
                </a:solidFill>
                <a:latin typeface="Arial" pitchFamily="34" charset="0"/>
                <a:ea typeface="Arial" pitchFamily="34" charset="-122"/>
                <a:cs typeface="Arial" pitchFamily="34" charset="-120"/>
              </a:rPr>
              <a:t>млрд</a:t>
            </a:r>
            <a:r>
              <a:rPr lang="en-US" sz="1738" dirty="0">
                <a:solidFill>
                  <a:srgbClr val="000000"/>
                </a:solidFill>
                <a:latin typeface="Arial" pitchFamily="34" charset="0"/>
                <a:ea typeface="Arial" pitchFamily="34" charset="-122"/>
                <a:cs typeface="Arial" pitchFamily="34" charset="-120"/>
              </a:rPr>
              <a:t> рублей, ниша автоматизации – 150 млн рублей, ожидаемая доля продукта – 15 млн за 3 года.
</a:t>
            </a:r>
            <a:endParaRPr lang="en-US" sz="2511" dirty="0"/>
          </a:p>
        </p:txBody>
      </p:sp>
      <p:pic>
        <p:nvPicPr>
          <p:cNvPr id="15" name="Рисунок 14">
            <a:extLst>
              <a:ext uri="{FF2B5EF4-FFF2-40B4-BE49-F238E27FC236}">
                <a16:creationId xmlns:a16="http://schemas.microsoft.com/office/drawing/2014/main" id="{C5A4AF1B-A9F1-44E1-9169-F918FD168388}"/>
              </a:ext>
            </a:extLst>
          </p:cNvPr>
          <p:cNvPicPr>
            <a:picLocks noChangeAspect="1"/>
          </p:cNvPicPr>
          <p:nvPr/>
        </p:nvPicPr>
        <p:blipFill>
          <a:blip r:embed="rId9"/>
          <a:stretch>
            <a:fillRect/>
          </a:stretch>
        </p:blipFill>
        <p:spPr>
          <a:xfrm>
            <a:off x="371170" y="0"/>
            <a:ext cx="17916830" cy="10312634"/>
          </a:xfrm>
          <a:prstGeom prst="rect">
            <a:avLst/>
          </a:prstGeom>
        </p:spPr>
      </p:pic>
    </p:spTree>
    <p:extLst>
      <p:ext uri="{BB962C8B-B14F-4D97-AF65-F5344CB8AC3E}">
        <p14:creationId xmlns:p14="http://schemas.microsoft.com/office/powerpoint/2010/main" val="3172654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pic>
        <p:nvPicPr>
          <p:cNvPr id="3" name="Image 1" descr="preencoded.png"/>
          <p:cNvPicPr>
            <a:picLocks noChangeAspect="1"/>
          </p:cNvPicPr>
          <p:nvPr/>
        </p:nvPicPr>
        <p:blipFill>
          <a:blip r:embed="rId4"/>
          <a:stretch>
            <a:fillRect/>
          </a:stretch>
        </p:blipFill>
        <p:spPr>
          <a:xfrm>
            <a:off x="0" y="0"/>
            <a:ext cx="18288000" cy="10287000"/>
          </a:xfrm>
          <a:prstGeom prst="rect">
            <a:avLst/>
          </a:prstGeom>
        </p:spPr>
      </p:pic>
      <p:pic>
        <p:nvPicPr>
          <p:cNvPr id="4" name="Image 2" descr="preencoded.png"/>
          <p:cNvPicPr>
            <a:picLocks noChangeAspect="1"/>
          </p:cNvPicPr>
          <p:nvPr/>
        </p:nvPicPr>
        <p:blipFill>
          <a:blip r:embed="rId5"/>
          <a:stretch>
            <a:fillRect/>
          </a:stretch>
        </p:blipFill>
        <p:spPr>
          <a:xfrm>
            <a:off x="0" y="0"/>
            <a:ext cx="18288000" cy="10287000"/>
          </a:xfrm>
          <a:prstGeom prst="rect">
            <a:avLst/>
          </a:prstGeom>
        </p:spPr>
      </p:pic>
      <p:pic>
        <p:nvPicPr>
          <p:cNvPr id="5" name="Image 3" descr="preencoded.png"/>
          <p:cNvPicPr>
            <a:picLocks noChangeAspect="1"/>
          </p:cNvPicPr>
          <p:nvPr/>
        </p:nvPicPr>
        <p:blipFill>
          <a:blip r:embed="rId6"/>
          <a:stretch>
            <a:fillRect/>
          </a:stretch>
        </p:blipFill>
        <p:spPr>
          <a:xfrm>
            <a:off x="0" y="0"/>
            <a:ext cx="18288000" cy="10287000"/>
          </a:xfrm>
          <a:prstGeom prst="rect">
            <a:avLst/>
          </a:prstGeom>
        </p:spPr>
      </p:pic>
      <p:pic>
        <p:nvPicPr>
          <p:cNvPr id="6" name="Image 4" descr="preencoded.png"/>
          <p:cNvPicPr>
            <a:picLocks noChangeAspect="1"/>
          </p:cNvPicPr>
          <p:nvPr/>
        </p:nvPicPr>
        <p:blipFill>
          <a:blip r:embed="rId7"/>
          <a:stretch>
            <a:fillRect/>
          </a:stretch>
        </p:blipFill>
        <p:spPr>
          <a:xfrm>
            <a:off x="0" y="0"/>
            <a:ext cx="18288000" cy="10287000"/>
          </a:xfrm>
          <a:prstGeom prst="rect">
            <a:avLst/>
          </a:prstGeom>
        </p:spPr>
      </p:pic>
      <p:pic>
        <p:nvPicPr>
          <p:cNvPr id="7" name="Image 5" descr="preencoded.png"/>
          <p:cNvPicPr>
            <a:picLocks noChangeAspect="1"/>
          </p:cNvPicPr>
          <p:nvPr/>
        </p:nvPicPr>
        <p:blipFill>
          <a:blip r:embed="rId8"/>
          <a:stretch>
            <a:fillRect/>
          </a:stretch>
        </p:blipFill>
        <p:spPr>
          <a:xfrm>
            <a:off x="0" y="0"/>
            <a:ext cx="18288000" cy="10287000"/>
          </a:xfrm>
          <a:prstGeom prst="rect">
            <a:avLst/>
          </a:prstGeom>
        </p:spPr>
      </p:pic>
      <p:sp>
        <p:nvSpPr>
          <p:cNvPr id="8" name="Text 0"/>
          <p:cNvSpPr txBox="1"/>
          <p:nvPr/>
        </p:nvSpPr>
        <p:spPr>
          <a:xfrm>
            <a:off x="1458892" y="886492"/>
            <a:ext cx="15065400" cy="1524000"/>
          </a:xfrm>
          <a:prstGeom prst="rect">
            <a:avLst/>
          </a:prstGeom>
          <a:noFill/>
          <a:ln/>
        </p:spPr>
        <p:txBody>
          <a:bodyPr wrap="square" lIns="0" tIns="0" rIns="0" bIns="0" rtlCol="0" anchor="ctr"/>
          <a:lstStyle/>
          <a:p>
            <a:pPr marL="0" indent="0" algn="ctr">
              <a:lnSpc>
                <a:spcPct val="100000"/>
              </a:lnSpc>
              <a:buNone/>
            </a:pPr>
            <a:r>
              <a:rPr lang="en-US" sz="4600" b="1" dirty="0">
                <a:solidFill>
                  <a:srgbClr val="000000"/>
                </a:solidFill>
                <a:latin typeface="Arial" pitchFamily="34" charset="0"/>
                <a:ea typeface="Arial" pitchFamily="34" charset="-122"/>
                <a:cs typeface="Arial" pitchFamily="34" charset="-120"/>
              </a:rPr>
              <a:t>Целевой рынок и клиентская база
</a:t>
            </a:r>
            <a:endParaRPr lang="en-US" sz="4600" dirty="0"/>
          </a:p>
        </p:txBody>
      </p:sp>
      <p:sp>
        <p:nvSpPr>
          <p:cNvPr id="9" name="Text 1"/>
          <p:cNvSpPr txBox="1"/>
          <p:nvPr/>
        </p:nvSpPr>
        <p:spPr>
          <a:xfrm>
            <a:off x="123775" y="9536150"/>
            <a:ext cx="1029000" cy="746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8</a:t>
            </a:r>
            <a:endParaRPr lang="en-US" sz="2200" dirty="0"/>
          </a:p>
        </p:txBody>
      </p:sp>
      <p:sp>
        <p:nvSpPr>
          <p:cNvPr id="10" name="Text 2"/>
          <p:cNvSpPr txBox="1"/>
          <p:nvPr/>
        </p:nvSpPr>
        <p:spPr>
          <a:xfrm>
            <a:off x="3046900" y="3598000"/>
            <a:ext cx="3802500" cy="1977000"/>
          </a:xfrm>
          <a:prstGeom prst="rect">
            <a:avLst/>
          </a:prstGeom>
          <a:noFill/>
          <a:ln/>
        </p:spPr>
        <p:txBody>
          <a:bodyPr wrap="square" lIns="0" tIns="0" rIns="0" bIns="0" rtlCol="0" anchor="t"/>
          <a:lstStyle/>
          <a:p>
            <a:pPr marL="0" indent="0" algn="l">
              <a:lnSpc>
                <a:spcPct val="100000"/>
              </a:lnSpc>
              <a:buNone/>
            </a:pPr>
            <a:r>
              <a:rPr lang="en-US" sz="2511" b="1" dirty="0">
                <a:solidFill>
                  <a:srgbClr val="000000"/>
                </a:solidFill>
                <a:latin typeface="Arial" pitchFamily="34" charset="0"/>
                <a:ea typeface="Arial" pitchFamily="34" charset="-122"/>
                <a:cs typeface="Arial" pitchFamily="34" charset="-120"/>
              </a:rPr>
              <a:t>Образовательные центры
</a:t>
            </a:r>
            <a:r>
              <a:rPr lang="en-US" sz="1738" b="1" dirty="0">
                <a:solidFill>
                  <a:srgbClr val="000000"/>
                </a:solidFill>
                <a:latin typeface="Arial" pitchFamily="34" charset="0"/>
                <a:ea typeface="Arial" pitchFamily="34" charset="-122"/>
                <a:cs typeface="Arial" pitchFamily="34" charset="-120"/>
              </a:rPr>
              <a:t>
</a:t>
            </a:r>
            <a:r>
              <a:rPr lang="ru-RU" sz="1738" dirty="0">
                <a:solidFill>
                  <a:srgbClr val="000000"/>
                </a:solidFill>
                <a:latin typeface="Arial" pitchFamily="34" charset="0"/>
                <a:ea typeface="Arial" pitchFamily="34" charset="-122"/>
                <a:cs typeface="Arial" pitchFamily="34" charset="-120"/>
              </a:rPr>
              <a:t>Я</a:t>
            </a:r>
            <a:r>
              <a:rPr lang="en-US" sz="1738" dirty="0" err="1">
                <a:solidFill>
                  <a:srgbClr val="000000"/>
                </a:solidFill>
                <a:latin typeface="Arial" pitchFamily="34" charset="0"/>
                <a:ea typeface="Arial" pitchFamily="34" charset="-122"/>
                <a:cs typeface="Arial" pitchFamily="34" charset="-120"/>
              </a:rPr>
              <a:t>зыковые</a:t>
            </a:r>
            <a:r>
              <a:rPr lang="en-US" sz="1738" dirty="0">
                <a:solidFill>
                  <a:srgbClr val="000000"/>
                </a:solidFill>
                <a:latin typeface="Arial" pitchFamily="34" charset="0"/>
                <a:ea typeface="Arial" pitchFamily="34" charset="-122"/>
                <a:cs typeface="Arial" pitchFamily="34" charset="-120"/>
              </a:rPr>
              <a:t> </a:t>
            </a:r>
            <a:r>
              <a:rPr lang="en-US" sz="1738" dirty="0" err="1">
                <a:solidFill>
                  <a:srgbClr val="000000"/>
                </a:solidFill>
                <a:latin typeface="Arial" pitchFamily="34" charset="0"/>
                <a:ea typeface="Arial" pitchFamily="34" charset="-122"/>
                <a:cs typeface="Arial" pitchFamily="34" charset="-120"/>
              </a:rPr>
              <a:t>школы</a:t>
            </a:r>
            <a:endParaRPr lang="ru-RU" sz="1738" dirty="0">
              <a:solidFill>
                <a:srgbClr val="000000"/>
              </a:solidFill>
              <a:latin typeface="Arial" pitchFamily="34" charset="0"/>
              <a:ea typeface="Arial" pitchFamily="34" charset="-122"/>
              <a:cs typeface="Arial" pitchFamily="34" charset="-120"/>
            </a:endParaRPr>
          </a:p>
          <a:p>
            <a:pPr marL="0" indent="0" algn="l">
              <a:lnSpc>
                <a:spcPct val="100000"/>
              </a:lnSpc>
              <a:buNone/>
            </a:pPr>
            <a:r>
              <a:rPr lang="en-US" sz="1738" dirty="0" err="1">
                <a:solidFill>
                  <a:srgbClr val="000000"/>
                </a:solidFill>
                <a:latin typeface="Arial" pitchFamily="34" charset="0"/>
                <a:ea typeface="Arial" pitchFamily="34" charset="-122"/>
                <a:cs typeface="Arial" pitchFamily="34" charset="-120"/>
              </a:rPr>
              <a:t>подготовительные</a:t>
            </a:r>
            <a:r>
              <a:rPr lang="en-US" sz="1738" dirty="0">
                <a:solidFill>
                  <a:srgbClr val="000000"/>
                </a:solidFill>
                <a:latin typeface="Arial" pitchFamily="34" charset="0"/>
                <a:ea typeface="Arial" pitchFamily="34" charset="-122"/>
                <a:cs typeface="Arial" pitchFamily="34" charset="-120"/>
              </a:rPr>
              <a:t> </a:t>
            </a:r>
            <a:r>
              <a:rPr lang="en-US" sz="1738" dirty="0" err="1">
                <a:solidFill>
                  <a:srgbClr val="000000"/>
                </a:solidFill>
                <a:latin typeface="Arial" pitchFamily="34" charset="0"/>
                <a:ea typeface="Arial" pitchFamily="34" charset="-122"/>
                <a:cs typeface="Arial" pitchFamily="34" charset="-120"/>
              </a:rPr>
              <a:t>центры</a:t>
            </a:r>
            <a:endParaRPr lang="ru-RU" sz="1738" dirty="0">
              <a:solidFill>
                <a:srgbClr val="000000"/>
              </a:solidFill>
              <a:latin typeface="Arial" pitchFamily="34" charset="0"/>
              <a:ea typeface="Arial" pitchFamily="34" charset="-122"/>
              <a:cs typeface="Arial" pitchFamily="34" charset="-120"/>
            </a:endParaRPr>
          </a:p>
          <a:p>
            <a:pPr marL="0" indent="0" algn="l">
              <a:lnSpc>
                <a:spcPct val="100000"/>
              </a:lnSpc>
              <a:buNone/>
            </a:pPr>
            <a:endParaRPr lang="en-US" sz="2511" dirty="0"/>
          </a:p>
        </p:txBody>
      </p:sp>
      <p:sp>
        <p:nvSpPr>
          <p:cNvPr id="11" name="Text 3"/>
          <p:cNvSpPr txBox="1"/>
          <p:nvPr/>
        </p:nvSpPr>
        <p:spPr>
          <a:xfrm>
            <a:off x="9925825" y="3598000"/>
            <a:ext cx="3802500" cy="1977000"/>
          </a:xfrm>
          <a:prstGeom prst="rect">
            <a:avLst/>
          </a:prstGeom>
          <a:noFill/>
          <a:ln/>
        </p:spPr>
        <p:txBody>
          <a:bodyPr wrap="square" lIns="0" tIns="0" rIns="0" bIns="0" rtlCol="0" anchor="t"/>
          <a:lstStyle/>
          <a:p>
            <a:pPr marL="0" indent="0" algn="l">
              <a:lnSpc>
                <a:spcPct val="100000"/>
              </a:lnSpc>
              <a:buNone/>
            </a:pPr>
            <a:r>
              <a:rPr lang="ru-RU" sz="2600" b="1" dirty="0">
                <a:solidFill>
                  <a:srgbClr val="000000"/>
                </a:solidFill>
                <a:latin typeface="Arial" pitchFamily="34" charset="0"/>
                <a:ea typeface="Arial" pitchFamily="34" charset="-122"/>
                <a:cs typeface="Arial" pitchFamily="34" charset="-120"/>
              </a:rPr>
              <a:t>Крупные компании</a:t>
            </a:r>
            <a:r>
              <a:rPr lang="en-US" sz="2600" b="1" dirty="0">
                <a:solidFill>
                  <a:srgbClr val="000000"/>
                </a:solidFill>
                <a:latin typeface="Arial" pitchFamily="34" charset="0"/>
                <a:ea typeface="Arial" pitchFamily="34" charset="-122"/>
                <a:cs typeface="Arial" pitchFamily="34" charset="-120"/>
              </a:rPr>
              <a:t>
</a:t>
            </a:r>
            <a:r>
              <a:rPr lang="en-US" sz="1800" b="1" dirty="0">
                <a:solidFill>
                  <a:srgbClr val="000000"/>
                </a:solidFill>
                <a:latin typeface="Arial" pitchFamily="34" charset="0"/>
                <a:ea typeface="Arial" pitchFamily="34" charset="-122"/>
                <a:cs typeface="Arial" pitchFamily="34" charset="-120"/>
              </a:rPr>
              <a:t>
</a:t>
            </a:r>
            <a:r>
              <a:rPr lang="ru-RU" sz="1800" dirty="0">
                <a:solidFill>
                  <a:srgbClr val="000000"/>
                </a:solidFill>
                <a:latin typeface="Arial" pitchFamily="34" charset="0"/>
                <a:ea typeface="Arial" pitchFamily="34" charset="-122"/>
                <a:cs typeface="Arial" pitchFamily="34" charset="-120"/>
              </a:rPr>
              <a:t>Применение </a:t>
            </a:r>
            <a:r>
              <a:rPr lang="en-US" sz="1800" dirty="0" err="1">
                <a:solidFill>
                  <a:srgbClr val="000000"/>
                </a:solidFill>
                <a:latin typeface="Arial" pitchFamily="34" charset="0"/>
                <a:ea typeface="Arial" pitchFamily="34" charset="-122"/>
                <a:cs typeface="Arial" pitchFamily="34" charset="-120"/>
              </a:rPr>
              <a:t>инструмент</a:t>
            </a:r>
            <a:r>
              <a:rPr lang="ru-RU" sz="1800" dirty="0">
                <a:solidFill>
                  <a:srgbClr val="000000"/>
                </a:solidFill>
                <a:latin typeface="Arial" pitchFamily="34" charset="0"/>
                <a:ea typeface="Arial" pitchFamily="34" charset="-122"/>
                <a:cs typeface="Arial" pitchFamily="34" charset="-120"/>
              </a:rPr>
              <a:t>а</a:t>
            </a:r>
            <a:r>
              <a:rPr lang="en-US" sz="1800" dirty="0">
                <a:solidFill>
                  <a:srgbClr val="000000"/>
                </a:solidFill>
                <a:latin typeface="Arial" pitchFamily="34" charset="0"/>
                <a:ea typeface="Arial" pitchFamily="34" charset="-122"/>
                <a:cs typeface="Arial" pitchFamily="34" charset="-120"/>
              </a:rPr>
              <a:t> в HR и обучающих подразделениях.
</a:t>
            </a:r>
            <a:endParaRPr lang="en-US" sz="2600" dirty="0"/>
          </a:p>
        </p:txBody>
      </p:sp>
      <p:sp>
        <p:nvSpPr>
          <p:cNvPr id="12" name="Text 4"/>
          <p:cNvSpPr txBox="1"/>
          <p:nvPr/>
        </p:nvSpPr>
        <p:spPr>
          <a:xfrm>
            <a:off x="6528162" y="7328250"/>
            <a:ext cx="3802500" cy="1977000"/>
          </a:xfrm>
          <a:prstGeom prst="rect">
            <a:avLst/>
          </a:prstGeom>
          <a:noFill/>
          <a:ln/>
        </p:spPr>
        <p:txBody>
          <a:bodyPr wrap="square" lIns="0" tIns="0" rIns="0" bIns="0" rtlCol="0" anchor="t"/>
          <a:lstStyle/>
          <a:p>
            <a:pPr marL="0" indent="0" algn="l">
              <a:lnSpc>
                <a:spcPct val="100000"/>
              </a:lnSpc>
              <a:buNone/>
            </a:pPr>
            <a:r>
              <a:rPr lang="en-US" sz="2531" b="1" dirty="0">
                <a:solidFill>
                  <a:srgbClr val="000000"/>
                </a:solidFill>
                <a:latin typeface="Arial" pitchFamily="34" charset="0"/>
                <a:ea typeface="Arial" pitchFamily="34" charset="-122"/>
                <a:cs typeface="Arial" pitchFamily="34" charset="-120"/>
              </a:rPr>
              <a:t>Государственные учреждения
</a:t>
            </a:r>
            <a:r>
              <a:rPr lang="en-US" sz="1753" b="1" dirty="0">
                <a:solidFill>
                  <a:srgbClr val="000000"/>
                </a:solidFill>
                <a:latin typeface="Arial" pitchFamily="34" charset="0"/>
                <a:ea typeface="Arial" pitchFamily="34" charset="-122"/>
                <a:cs typeface="Arial" pitchFamily="34" charset="-120"/>
              </a:rPr>
              <a:t>
</a:t>
            </a:r>
            <a:r>
              <a:rPr lang="ru-RU" sz="1753" dirty="0">
                <a:solidFill>
                  <a:srgbClr val="000000"/>
                </a:solidFill>
                <a:latin typeface="Arial" pitchFamily="34" charset="0"/>
                <a:ea typeface="Arial" pitchFamily="34" charset="-122"/>
                <a:cs typeface="Arial" pitchFamily="34" charset="-120"/>
              </a:rPr>
              <a:t>- ВУЗы</a:t>
            </a:r>
          </a:p>
          <a:p>
            <a:pPr marL="0" indent="0" algn="l">
              <a:lnSpc>
                <a:spcPct val="100000"/>
              </a:lnSpc>
              <a:buNone/>
            </a:pPr>
            <a:r>
              <a:rPr lang="ru-RU" sz="1753" dirty="0">
                <a:solidFill>
                  <a:srgbClr val="000000"/>
                </a:solidFill>
                <a:latin typeface="Arial" pitchFamily="34" charset="0"/>
                <a:ea typeface="Arial" pitchFamily="34" charset="-122"/>
                <a:cs typeface="Arial" pitchFamily="34" charset="-120"/>
              </a:rPr>
              <a:t>- Сертификационные центры</a:t>
            </a:r>
            <a:r>
              <a:rPr lang="en-US" sz="1753" dirty="0">
                <a:solidFill>
                  <a:srgbClr val="000000"/>
                </a:solidFill>
                <a:latin typeface="Arial" pitchFamily="34" charset="0"/>
                <a:ea typeface="Arial" pitchFamily="34" charset="-122"/>
                <a:cs typeface="Arial" pitchFamily="34" charset="-120"/>
              </a:rPr>
              <a:t>
</a:t>
            </a:r>
            <a:endParaRPr lang="en-US" sz="2531" dirty="0"/>
          </a:p>
        </p:txBody>
      </p:sp>
      <p:sp>
        <p:nvSpPr>
          <p:cNvPr id="13" name="Text 5"/>
          <p:cNvSpPr txBox="1"/>
          <p:nvPr/>
        </p:nvSpPr>
        <p:spPr>
          <a:xfrm>
            <a:off x="13375125" y="7328250"/>
            <a:ext cx="3802500" cy="1977000"/>
          </a:xfrm>
          <a:prstGeom prst="rect">
            <a:avLst/>
          </a:prstGeom>
          <a:noFill/>
          <a:ln/>
        </p:spPr>
        <p:txBody>
          <a:bodyPr wrap="square" lIns="0" tIns="0" rIns="0" bIns="0" rtlCol="0" anchor="t"/>
          <a:lstStyle/>
          <a:p>
            <a:pPr marL="0" indent="0" algn="l">
              <a:lnSpc>
                <a:spcPct val="100000"/>
              </a:lnSpc>
              <a:buNone/>
            </a:pPr>
            <a:r>
              <a:rPr lang="en-US" sz="2511" b="1" dirty="0">
                <a:solidFill>
                  <a:srgbClr val="000000"/>
                </a:solidFill>
                <a:latin typeface="Arial" pitchFamily="34" charset="0"/>
                <a:ea typeface="Arial" pitchFamily="34" charset="-122"/>
                <a:cs typeface="Arial" pitchFamily="34" charset="-120"/>
              </a:rPr>
              <a:t>Размер рынка EdTech
</a:t>
            </a:r>
            <a:r>
              <a:rPr lang="en-US" sz="1738" b="1" dirty="0">
                <a:solidFill>
                  <a:srgbClr val="000000"/>
                </a:solidFill>
                <a:latin typeface="Arial" pitchFamily="34" charset="0"/>
                <a:ea typeface="Arial" pitchFamily="34" charset="-122"/>
                <a:cs typeface="Arial" pitchFamily="34" charset="-120"/>
              </a:rPr>
              <a:t>
</a:t>
            </a:r>
            <a:r>
              <a:rPr lang="en-US" sz="1738" dirty="0">
                <a:solidFill>
                  <a:srgbClr val="000000"/>
                </a:solidFill>
                <a:latin typeface="Arial" pitchFamily="34" charset="0"/>
                <a:ea typeface="Arial" pitchFamily="34" charset="-122"/>
                <a:cs typeface="Arial" pitchFamily="34" charset="-120"/>
              </a:rPr>
              <a:t>Общий </a:t>
            </a:r>
            <a:r>
              <a:rPr lang="en-US" sz="1738" dirty="0" err="1">
                <a:solidFill>
                  <a:srgbClr val="000000"/>
                </a:solidFill>
                <a:latin typeface="Arial" pitchFamily="34" charset="0"/>
                <a:ea typeface="Arial" pitchFamily="34" charset="-122"/>
                <a:cs typeface="Arial" pitchFamily="34" charset="-120"/>
              </a:rPr>
              <a:t>рынок</a:t>
            </a:r>
            <a:r>
              <a:rPr lang="en-US" sz="1738" dirty="0">
                <a:solidFill>
                  <a:srgbClr val="000000"/>
                </a:solidFill>
                <a:latin typeface="Arial" pitchFamily="34" charset="0"/>
                <a:ea typeface="Arial" pitchFamily="34" charset="-122"/>
                <a:cs typeface="Arial" pitchFamily="34" charset="-120"/>
              </a:rPr>
              <a:t> EdTech </a:t>
            </a:r>
            <a:r>
              <a:rPr lang="en-US" sz="1738" dirty="0" err="1">
                <a:solidFill>
                  <a:srgbClr val="000000"/>
                </a:solidFill>
                <a:latin typeface="Arial" pitchFamily="34" charset="0"/>
                <a:ea typeface="Arial" pitchFamily="34" charset="-122"/>
                <a:cs typeface="Arial" pitchFamily="34" charset="-120"/>
              </a:rPr>
              <a:t>России</a:t>
            </a:r>
            <a:r>
              <a:rPr lang="en-US" sz="1738" dirty="0">
                <a:solidFill>
                  <a:srgbClr val="000000"/>
                </a:solidFill>
                <a:latin typeface="Arial" pitchFamily="34" charset="0"/>
                <a:ea typeface="Arial" pitchFamily="34" charset="-122"/>
                <a:cs typeface="Arial" pitchFamily="34" charset="-120"/>
              </a:rPr>
              <a:t> оценивается в </a:t>
            </a:r>
            <a:r>
              <a:rPr lang="ru-RU" sz="1738" dirty="0">
                <a:solidFill>
                  <a:srgbClr val="000000"/>
                </a:solidFill>
                <a:latin typeface="Arial" pitchFamily="34" charset="0"/>
                <a:ea typeface="Arial" pitchFamily="34" charset="-122"/>
                <a:cs typeface="Arial" pitchFamily="34" charset="-120"/>
              </a:rPr>
              <a:t>144 </a:t>
            </a:r>
            <a:r>
              <a:rPr lang="en-US" sz="1738" dirty="0" err="1">
                <a:solidFill>
                  <a:srgbClr val="000000"/>
                </a:solidFill>
                <a:latin typeface="Arial" pitchFamily="34" charset="0"/>
                <a:ea typeface="Arial" pitchFamily="34" charset="-122"/>
                <a:cs typeface="Arial" pitchFamily="34" charset="-120"/>
              </a:rPr>
              <a:t>млрд</a:t>
            </a:r>
            <a:r>
              <a:rPr lang="en-US" sz="1738" dirty="0">
                <a:solidFill>
                  <a:srgbClr val="000000"/>
                </a:solidFill>
                <a:latin typeface="Arial" pitchFamily="34" charset="0"/>
                <a:ea typeface="Arial" pitchFamily="34" charset="-122"/>
                <a:cs typeface="Arial" pitchFamily="34" charset="-120"/>
              </a:rPr>
              <a:t> рублей, ниша автоматизации – 150 млн рублей, ожидаемая доля продукта – 15 млн за 3 года.
</a:t>
            </a:r>
            <a:endParaRPr lang="en-US" sz="2511" dirty="0"/>
          </a:p>
        </p:txBody>
      </p:sp>
      <p:pic>
        <p:nvPicPr>
          <p:cNvPr id="16" name="Рисунок 15">
            <a:extLst>
              <a:ext uri="{FF2B5EF4-FFF2-40B4-BE49-F238E27FC236}">
                <a16:creationId xmlns:a16="http://schemas.microsoft.com/office/drawing/2014/main" id="{E7DAFF56-316B-44CC-9963-756D7F5AD6CF}"/>
              </a:ext>
            </a:extLst>
          </p:cNvPr>
          <p:cNvPicPr>
            <a:picLocks noChangeAspect="1"/>
          </p:cNvPicPr>
          <p:nvPr/>
        </p:nvPicPr>
        <p:blipFill>
          <a:blip r:embed="rId9"/>
          <a:stretch>
            <a:fillRect/>
          </a:stretch>
        </p:blipFill>
        <p:spPr>
          <a:xfrm>
            <a:off x="-1" y="13458"/>
            <a:ext cx="18287999" cy="10287000"/>
          </a:xfrm>
          <a:prstGeom prst="rect">
            <a:avLst/>
          </a:prstGeom>
        </p:spPr>
      </p:pic>
    </p:spTree>
    <p:extLst>
      <p:ext uri="{BB962C8B-B14F-4D97-AF65-F5344CB8AC3E}">
        <p14:creationId xmlns:p14="http://schemas.microsoft.com/office/powerpoint/2010/main" val="3495821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pic>
        <p:nvPicPr>
          <p:cNvPr id="3" name="Image 1" descr="preencoded.png"/>
          <p:cNvPicPr>
            <a:picLocks noChangeAspect="1"/>
          </p:cNvPicPr>
          <p:nvPr/>
        </p:nvPicPr>
        <p:blipFill>
          <a:blip r:embed="rId4"/>
          <a:stretch>
            <a:fillRect/>
          </a:stretch>
        </p:blipFill>
        <p:spPr>
          <a:xfrm>
            <a:off x="0" y="0"/>
            <a:ext cx="18288000" cy="10287000"/>
          </a:xfrm>
          <a:prstGeom prst="rect">
            <a:avLst/>
          </a:prstGeom>
        </p:spPr>
      </p:pic>
      <p:sp>
        <p:nvSpPr>
          <p:cNvPr id="6" name="Text 1"/>
          <p:cNvSpPr txBox="1"/>
          <p:nvPr/>
        </p:nvSpPr>
        <p:spPr>
          <a:xfrm>
            <a:off x="123775" y="9536150"/>
            <a:ext cx="1028700" cy="746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7</a:t>
            </a:r>
            <a:endParaRPr lang="en-US" sz="2200" dirty="0"/>
          </a:p>
        </p:txBody>
      </p:sp>
      <p:sp>
        <p:nvSpPr>
          <p:cNvPr id="7" name="Text 2"/>
          <p:cNvSpPr txBox="1"/>
          <p:nvPr/>
        </p:nvSpPr>
        <p:spPr>
          <a:xfrm>
            <a:off x="5795681" y="408426"/>
            <a:ext cx="9332259" cy="3525803"/>
          </a:xfrm>
          <a:prstGeom prst="rect">
            <a:avLst/>
          </a:prstGeom>
          <a:noFill/>
          <a:ln/>
        </p:spPr>
        <p:txBody>
          <a:bodyPr wrap="square" lIns="0" tIns="0" rIns="0" bIns="0" rtlCol="0" anchor="ctr"/>
          <a:lstStyle/>
          <a:p>
            <a:pPr marL="0" indent="0" algn="l">
              <a:lnSpc>
                <a:spcPct val="120000"/>
              </a:lnSpc>
              <a:buNone/>
            </a:pPr>
            <a:r>
              <a:rPr lang="ru-RU" sz="4600" b="1" dirty="0">
                <a:solidFill>
                  <a:srgbClr val="000000"/>
                </a:solidFill>
                <a:latin typeface="Arial" pitchFamily="34" charset="0"/>
                <a:ea typeface="Arial" pitchFamily="34" charset="-122"/>
                <a:cs typeface="Arial" pitchFamily="34" charset="-120"/>
              </a:rPr>
              <a:t>Рынок тестирования </a:t>
            </a:r>
          </a:p>
          <a:p>
            <a:pPr marL="0" indent="0" algn="l">
              <a:lnSpc>
                <a:spcPct val="120000"/>
              </a:lnSpc>
              <a:buNone/>
            </a:pPr>
            <a:r>
              <a:rPr lang="ru-RU" sz="4600" b="1" dirty="0">
                <a:solidFill>
                  <a:srgbClr val="000000"/>
                </a:solidFill>
                <a:latin typeface="Arial" pitchFamily="34" charset="0"/>
                <a:ea typeface="Arial" pitchFamily="34" charset="-122"/>
                <a:cs typeface="Arial" pitchFamily="34" charset="-120"/>
              </a:rPr>
              <a:t>на знание русского языка </a:t>
            </a:r>
            <a:r>
              <a:rPr lang="en-US" sz="4600" b="1" dirty="0">
                <a:solidFill>
                  <a:srgbClr val="000000"/>
                </a:solidFill>
                <a:latin typeface="Arial" pitchFamily="34" charset="0"/>
                <a:ea typeface="Arial" pitchFamily="34" charset="-122"/>
                <a:cs typeface="Arial" pitchFamily="34" charset="-120"/>
              </a:rPr>
              <a:t>
</a:t>
            </a:r>
            <a:r>
              <a:rPr lang="en-US" sz="4000" b="1" dirty="0">
                <a:solidFill>
                  <a:srgbClr val="000000"/>
                </a:solidFill>
                <a:latin typeface="Arial" pitchFamily="34" charset="0"/>
                <a:ea typeface="Arial" pitchFamily="34" charset="-122"/>
                <a:cs typeface="Arial" pitchFamily="34" charset="-120"/>
              </a:rPr>
              <a:t>
</a:t>
            </a:r>
            <a:r>
              <a:rPr lang="en-US" sz="2400" dirty="0">
                <a:solidFill>
                  <a:srgbClr val="000000"/>
                </a:solidFill>
                <a:latin typeface="Arial" pitchFamily="34" charset="0"/>
                <a:ea typeface="Arial" pitchFamily="34" charset="-122"/>
                <a:cs typeface="Arial" pitchFamily="34" charset="-120"/>
              </a:rPr>
              <a:t>
</a:t>
            </a:r>
            <a:endParaRPr lang="en-US" sz="4600" dirty="0"/>
          </a:p>
        </p:txBody>
      </p:sp>
      <p:sp>
        <p:nvSpPr>
          <p:cNvPr id="4" name="TextBox 3">
            <a:extLst>
              <a:ext uri="{FF2B5EF4-FFF2-40B4-BE49-F238E27FC236}">
                <a16:creationId xmlns:a16="http://schemas.microsoft.com/office/drawing/2014/main" id="{F3B2FA57-8392-4501-9461-74B1CF5BA990}"/>
              </a:ext>
            </a:extLst>
          </p:cNvPr>
          <p:cNvSpPr txBox="1"/>
          <p:nvPr/>
        </p:nvSpPr>
        <p:spPr>
          <a:xfrm>
            <a:off x="5795680" y="2272553"/>
            <a:ext cx="11806519" cy="6124754"/>
          </a:xfrm>
          <a:prstGeom prst="rect">
            <a:avLst/>
          </a:prstGeom>
          <a:noFill/>
        </p:spPr>
        <p:txBody>
          <a:bodyPr wrap="square" rtlCol="0">
            <a:spAutoFit/>
          </a:bodyPr>
          <a:lstStyle/>
          <a:p>
            <a:r>
              <a:rPr lang="ru-RU" sz="2800" b="0" i="0" u="none" strike="noStrike" dirty="0">
                <a:solidFill>
                  <a:srgbClr val="000000"/>
                </a:solidFill>
                <a:effectLst/>
                <a:latin typeface="Fira Sans" panose="020B0503050000020004" pitchFamily="34" charset="0"/>
              </a:rPr>
              <a:t>Только </a:t>
            </a:r>
            <a:r>
              <a:rPr lang="ru-RU" sz="2800" b="1" i="0" u="none" strike="noStrike" dirty="0">
                <a:solidFill>
                  <a:srgbClr val="000000"/>
                </a:solidFill>
                <a:effectLst/>
                <a:latin typeface="Fira Sans" panose="020B0503050000020004" pitchFamily="34" charset="0"/>
              </a:rPr>
              <a:t>за 2023 год </a:t>
            </a:r>
            <a:r>
              <a:rPr lang="ru-RU" sz="2800" b="0" i="0" u="none" strike="noStrike" dirty="0">
                <a:solidFill>
                  <a:srgbClr val="000000"/>
                </a:solidFill>
                <a:effectLst/>
                <a:latin typeface="Fira Sans" panose="020B0503050000020004" pitchFamily="34" charset="0"/>
              </a:rPr>
              <a:t>в России </a:t>
            </a:r>
            <a:r>
              <a:rPr lang="ru-RU" sz="2800" b="1" i="0" u="none" strike="noStrike" dirty="0">
                <a:solidFill>
                  <a:srgbClr val="000000"/>
                </a:solidFill>
                <a:effectLst/>
                <a:latin typeface="Fira Sans" panose="020B0503050000020004" pitchFamily="34" charset="0"/>
              </a:rPr>
              <a:t>смогли легализоваться около 6,5 млн трудовых мигрантов.</a:t>
            </a:r>
            <a:endParaRPr lang="ru-RU" sz="2800" b="0" i="0" u="none" strike="noStrike" dirty="0">
              <a:solidFill>
                <a:srgbClr val="000000"/>
              </a:solidFill>
              <a:effectLst/>
              <a:latin typeface="Fira Sans" panose="020B0503050000020004" pitchFamily="34" charset="0"/>
            </a:endParaRPr>
          </a:p>
          <a:p>
            <a:endParaRPr lang="ru-RU" sz="2800" dirty="0">
              <a:solidFill>
                <a:srgbClr val="000000"/>
              </a:solidFill>
              <a:latin typeface="Fira Sans" panose="020B0503050000020004" pitchFamily="34" charset="0"/>
            </a:endParaRPr>
          </a:p>
          <a:p>
            <a:r>
              <a:rPr lang="ru-RU" sz="2800" b="0" i="0" u="none" strike="noStrike" dirty="0">
                <a:solidFill>
                  <a:srgbClr val="000000"/>
                </a:solidFill>
                <a:effectLst/>
                <a:latin typeface="Fira Sans" panose="020B0503050000020004" pitchFamily="34" charset="0"/>
              </a:rPr>
              <a:t>Правом принимать экзамен обладают </a:t>
            </a:r>
            <a:r>
              <a:rPr lang="ru-RU" sz="2800" b="1" i="0" u="none" strike="noStrike" dirty="0">
                <a:solidFill>
                  <a:srgbClr val="000000"/>
                </a:solidFill>
                <a:effectLst/>
                <a:latin typeface="Fira Sans" panose="020B0503050000020004" pitchFamily="34" charset="0"/>
              </a:rPr>
              <a:t>лишь 13 вузов. </a:t>
            </a:r>
            <a:r>
              <a:rPr lang="ru-RU" sz="2800" b="0" i="0" u="none" strike="noStrike" dirty="0">
                <a:solidFill>
                  <a:srgbClr val="000000"/>
                </a:solidFill>
                <a:effectLst/>
                <a:latin typeface="Fira Sans" panose="020B0503050000020004" pitchFamily="34" charset="0"/>
              </a:rPr>
              <a:t>Но за последние годы сформировалась система, при которой тестирование на самом деле проводили </a:t>
            </a:r>
            <a:r>
              <a:rPr lang="ru-RU" sz="2800" b="1" i="0" u="none" strike="noStrike" dirty="0">
                <a:solidFill>
                  <a:srgbClr val="000000"/>
                </a:solidFill>
                <a:effectLst/>
                <a:latin typeface="Fira Sans" panose="020B0503050000020004" pitchFamily="34" charset="0"/>
              </a:rPr>
              <a:t>коммерческие структуры, — по всей стране их более 500. </a:t>
            </a:r>
            <a:r>
              <a:rPr lang="ru-RU" sz="2800" b="0" i="0" u="none" strike="noStrike" dirty="0">
                <a:solidFill>
                  <a:srgbClr val="000000"/>
                </a:solidFill>
                <a:effectLst/>
                <a:latin typeface="Fira Sans" panose="020B0503050000020004" pitchFamily="34" charset="0"/>
              </a:rPr>
              <a:t>При этом некоторые фирмы могли быть аффилированы с руководителями вузов, в частности РУДН, </a:t>
            </a:r>
            <a:r>
              <a:rPr lang="ru-RU" sz="2800" b="0" i="0" dirty="0">
                <a:solidFill>
                  <a:srgbClr val="000000"/>
                </a:solidFill>
                <a:effectLst/>
                <a:latin typeface="Fira Sans" panose="020B0503050000020004" pitchFamily="34" charset="0"/>
              </a:rPr>
              <a:t>Контроль за проведением экзаменов почти отсутствовал — сдать его можно было с подсказками экзаменатора, шпаргалками, в присутствии переводчика, через подставное лицо. </a:t>
            </a:r>
            <a:r>
              <a:rPr lang="ru-RU" sz="2800" b="1" i="0" dirty="0">
                <a:solidFill>
                  <a:srgbClr val="000000"/>
                </a:solidFill>
                <a:effectLst/>
                <a:latin typeface="Fira Sans" panose="020B0503050000020004" pitchFamily="34" charset="0"/>
              </a:rPr>
              <a:t>Ежегодные доходы </a:t>
            </a:r>
            <a:r>
              <a:rPr lang="ru-RU" sz="2800" b="0" i="0" dirty="0">
                <a:solidFill>
                  <a:srgbClr val="000000"/>
                </a:solidFill>
                <a:effectLst/>
                <a:latin typeface="Fira Sans" panose="020B0503050000020004" pitchFamily="34" charset="0"/>
              </a:rPr>
              <a:t>крупных фирм, контролировавших этот рынок, </a:t>
            </a:r>
            <a:r>
              <a:rPr lang="ru-RU" sz="2800" b="1" i="0" dirty="0">
                <a:solidFill>
                  <a:srgbClr val="000000"/>
                </a:solidFill>
                <a:effectLst/>
                <a:latin typeface="Fira Sans" panose="020B0503050000020004" pitchFamily="34" charset="0"/>
              </a:rPr>
              <a:t>могли достигать десятков и сотен миллионов рублей</a:t>
            </a:r>
            <a:r>
              <a:rPr lang="ru-RU" sz="2800" b="0" i="0" dirty="0">
                <a:solidFill>
                  <a:srgbClr val="000000"/>
                </a:solidFill>
                <a:effectLst/>
                <a:latin typeface="Fira Sans" panose="020B0503050000020004" pitchFamily="34" charset="0"/>
              </a:rPr>
              <a:t>, следует из материалов уголовных дел, возбужденных в последнее время.</a:t>
            </a:r>
            <a:endParaRPr lang="ru-RU" sz="2800" dirty="0"/>
          </a:p>
        </p:txBody>
      </p:sp>
      <p:sp>
        <p:nvSpPr>
          <p:cNvPr id="5" name="TextBox 4">
            <a:extLst>
              <a:ext uri="{FF2B5EF4-FFF2-40B4-BE49-F238E27FC236}">
                <a16:creationId xmlns:a16="http://schemas.microsoft.com/office/drawing/2014/main" id="{FAF7EA05-9A70-440B-89E8-94344DB0618E}"/>
              </a:ext>
            </a:extLst>
          </p:cNvPr>
          <p:cNvSpPr txBox="1"/>
          <p:nvPr/>
        </p:nvSpPr>
        <p:spPr>
          <a:xfrm flipH="1">
            <a:off x="5795681" y="8939780"/>
            <a:ext cx="7995622" cy="646331"/>
          </a:xfrm>
          <a:prstGeom prst="rect">
            <a:avLst/>
          </a:prstGeom>
          <a:noFill/>
        </p:spPr>
        <p:txBody>
          <a:bodyPr wrap="square" rtlCol="0">
            <a:spAutoFit/>
          </a:bodyPr>
          <a:lstStyle/>
          <a:p>
            <a:r>
              <a:rPr lang="en-US" dirty="0"/>
              <a:t>https://iz.ru/1689058/sergei-krylov-iuliia-timofeeva-viktor-diatlikovich/pirivotchik-mana-dai-kto-i-kak-zarabatyval-na-ekzamenakh-po-russkomu-iazyku-dlia-migrantov</a:t>
            </a:r>
            <a:endParaRPr lang="ru-RU" dirty="0"/>
          </a:p>
        </p:txBody>
      </p:sp>
      <p:pic>
        <p:nvPicPr>
          <p:cNvPr id="9" name="Рисунок 8">
            <a:extLst>
              <a:ext uri="{FF2B5EF4-FFF2-40B4-BE49-F238E27FC236}">
                <a16:creationId xmlns:a16="http://schemas.microsoft.com/office/drawing/2014/main" id="{12A06EEF-CAC4-457B-B11C-BA0EE29E03FE}"/>
              </a:ext>
            </a:extLst>
          </p:cNvPr>
          <p:cNvPicPr>
            <a:picLocks noChangeAspect="1"/>
          </p:cNvPicPr>
          <p:nvPr/>
        </p:nvPicPr>
        <p:blipFill>
          <a:blip r:embed="rId5"/>
          <a:stretch>
            <a:fillRect/>
          </a:stretch>
        </p:blipFill>
        <p:spPr>
          <a:xfrm>
            <a:off x="14348011" y="351835"/>
            <a:ext cx="3107007" cy="784442"/>
          </a:xfrm>
          <a:prstGeom prst="rect">
            <a:avLst/>
          </a:prstGeom>
        </p:spPr>
      </p:pic>
      <p:sp>
        <p:nvSpPr>
          <p:cNvPr id="10" name="TextBox 9">
            <a:extLst>
              <a:ext uri="{FF2B5EF4-FFF2-40B4-BE49-F238E27FC236}">
                <a16:creationId xmlns:a16="http://schemas.microsoft.com/office/drawing/2014/main" id="{E42BE515-16C6-486A-9648-4C93EB0622C5}"/>
              </a:ext>
            </a:extLst>
          </p:cNvPr>
          <p:cNvSpPr txBox="1"/>
          <p:nvPr/>
        </p:nvSpPr>
        <p:spPr>
          <a:xfrm>
            <a:off x="15493701" y="9112297"/>
            <a:ext cx="3361765" cy="523220"/>
          </a:xfrm>
          <a:prstGeom prst="rect">
            <a:avLst/>
          </a:prstGeom>
          <a:noFill/>
        </p:spPr>
        <p:txBody>
          <a:bodyPr wrap="square" rtlCol="0">
            <a:spAutoFit/>
          </a:bodyPr>
          <a:lstStyle/>
          <a:p>
            <a:r>
              <a:rPr lang="ru-RU" sz="2800" dirty="0"/>
              <a:t>29.04.2024</a:t>
            </a:r>
            <a:endParaRPr lang="ru-RU" dirty="0"/>
          </a:p>
        </p:txBody>
      </p:sp>
      <p:pic>
        <p:nvPicPr>
          <p:cNvPr id="12" name="Рисунок 11">
            <a:extLst>
              <a:ext uri="{FF2B5EF4-FFF2-40B4-BE49-F238E27FC236}">
                <a16:creationId xmlns:a16="http://schemas.microsoft.com/office/drawing/2014/main" id="{CD3A0157-5CB2-4940-B8B9-CFF05ECED4E9}"/>
              </a:ext>
            </a:extLst>
          </p:cNvPr>
          <p:cNvPicPr>
            <a:picLocks noChangeAspect="1"/>
          </p:cNvPicPr>
          <p:nvPr/>
        </p:nvPicPr>
        <p:blipFill>
          <a:blip r:embed="rId6"/>
          <a:stretch>
            <a:fillRect/>
          </a:stretch>
        </p:blipFill>
        <p:spPr>
          <a:xfrm>
            <a:off x="411612" y="501321"/>
            <a:ext cx="5074788" cy="8872586"/>
          </a:xfrm>
          <a:prstGeom prst="rect">
            <a:avLst/>
          </a:prstGeom>
        </p:spPr>
      </p:pic>
    </p:spTree>
    <p:extLst>
      <p:ext uri="{BB962C8B-B14F-4D97-AF65-F5344CB8AC3E}">
        <p14:creationId xmlns:p14="http://schemas.microsoft.com/office/powerpoint/2010/main" val="2953288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pic>
        <p:nvPicPr>
          <p:cNvPr id="3" name="Image 1" descr="preencoded.png"/>
          <p:cNvPicPr>
            <a:picLocks noChangeAspect="1"/>
          </p:cNvPicPr>
          <p:nvPr/>
        </p:nvPicPr>
        <p:blipFill>
          <a:blip r:embed="rId4"/>
          <a:stretch>
            <a:fillRect/>
          </a:stretch>
        </p:blipFill>
        <p:spPr>
          <a:xfrm>
            <a:off x="0" y="0"/>
            <a:ext cx="18288000" cy="10287000"/>
          </a:xfrm>
          <a:prstGeom prst="rect">
            <a:avLst/>
          </a:prstGeom>
        </p:spPr>
      </p:pic>
      <p:pic>
        <p:nvPicPr>
          <p:cNvPr id="4" name="Image 2" descr="preencoded.png"/>
          <p:cNvPicPr>
            <a:picLocks noChangeAspect="1"/>
          </p:cNvPicPr>
          <p:nvPr/>
        </p:nvPicPr>
        <p:blipFill>
          <a:blip r:embed="rId5"/>
          <a:stretch>
            <a:fillRect/>
          </a:stretch>
        </p:blipFill>
        <p:spPr>
          <a:xfrm>
            <a:off x="9763475" y="1919174"/>
            <a:ext cx="8287500" cy="6649052"/>
          </a:xfrm>
          <a:prstGeom prst="rect">
            <a:avLst/>
          </a:prstGeom>
        </p:spPr>
      </p:pic>
      <p:sp>
        <p:nvSpPr>
          <p:cNvPr id="5" name="Text 0"/>
          <p:cNvSpPr txBox="1"/>
          <p:nvPr/>
        </p:nvSpPr>
        <p:spPr>
          <a:xfrm>
            <a:off x="10372575" y="9023150"/>
            <a:ext cx="6911700" cy="746400"/>
          </a:xfrm>
          <a:prstGeom prst="rect">
            <a:avLst/>
          </a:prstGeom>
          <a:noFill/>
          <a:ln/>
        </p:spPr>
        <p:txBody>
          <a:bodyPr wrap="square" lIns="0" tIns="0" rIns="0" bIns="0" rtlCol="0" anchor="t"/>
          <a:lstStyle/>
          <a:p>
            <a:pPr marL="0" indent="0" algn="r">
              <a:lnSpc>
                <a:spcPct val="150041"/>
              </a:lnSpc>
              <a:buNone/>
            </a:pPr>
            <a:r>
              <a:rPr lang="en-US" sz="2000" dirty="0">
                <a:solidFill>
                  <a:srgbClr val="2A3E5C"/>
                </a:solidFill>
                <a:latin typeface="Arial" pitchFamily="34" charset="0"/>
                <a:ea typeface="Arial" pitchFamily="34" charset="-122"/>
                <a:cs typeface="Arial" pitchFamily="34" charset="-120"/>
              </a:rPr>
              <a:t>Потенциальный план проекта, 2026 год
</a:t>
            </a:r>
            <a:endParaRPr lang="en-US" sz="2000" dirty="0"/>
          </a:p>
        </p:txBody>
      </p:sp>
      <p:sp>
        <p:nvSpPr>
          <p:cNvPr id="6" name="Text 1"/>
          <p:cNvSpPr txBox="1"/>
          <p:nvPr/>
        </p:nvSpPr>
        <p:spPr>
          <a:xfrm>
            <a:off x="123775" y="9536150"/>
            <a:ext cx="1028700" cy="746400"/>
          </a:xfrm>
          <a:prstGeom prst="rect">
            <a:avLst/>
          </a:prstGeom>
          <a:noFill/>
          <a:ln/>
        </p:spPr>
        <p:txBody>
          <a:bodyPr wrap="square" lIns="0" tIns="0" rIns="0" bIns="0" rtlCol="0" anchor="t"/>
          <a:lstStyle/>
          <a:p>
            <a:pPr marL="0" indent="0" algn="ctr">
              <a:lnSpc>
                <a:spcPct val="100000"/>
              </a:lnSpc>
              <a:buNone/>
            </a:pPr>
            <a:r>
              <a:rPr lang="en-US" sz="2200" b="1" dirty="0">
                <a:solidFill>
                  <a:srgbClr val="D9D9D9"/>
                </a:solidFill>
                <a:latin typeface="Arial" pitchFamily="34" charset="0"/>
                <a:ea typeface="Arial" pitchFamily="34" charset="-122"/>
                <a:cs typeface="Arial" pitchFamily="34" charset="-120"/>
              </a:rPr>
              <a:t>9</a:t>
            </a:r>
            <a:endParaRPr lang="en-US" sz="2200" dirty="0"/>
          </a:p>
        </p:txBody>
      </p:sp>
      <p:sp>
        <p:nvSpPr>
          <p:cNvPr id="7" name="Text 2"/>
          <p:cNvSpPr txBox="1"/>
          <p:nvPr/>
        </p:nvSpPr>
        <p:spPr>
          <a:xfrm>
            <a:off x="1152475" y="1172137"/>
            <a:ext cx="8918400" cy="6649500"/>
          </a:xfrm>
          <a:prstGeom prst="rect">
            <a:avLst/>
          </a:prstGeom>
          <a:noFill/>
          <a:ln/>
        </p:spPr>
        <p:txBody>
          <a:bodyPr wrap="square" lIns="0" tIns="0" rIns="0" bIns="0" rtlCol="0" anchor="ctr"/>
          <a:lstStyle/>
          <a:p>
            <a:pPr marL="0" indent="0" algn="l">
              <a:lnSpc>
                <a:spcPct val="120000"/>
              </a:lnSpc>
              <a:buNone/>
            </a:pPr>
            <a:r>
              <a:rPr lang="en-US" sz="4600" b="1" dirty="0">
                <a:solidFill>
                  <a:srgbClr val="000000"/>
                </a:solidFill>
                <a:latin typeface="Arial" pitchFamily="34" charset="0"/>
                <a:ea typeface="Arial" pitchFamily="34" charset="-122"/>
                <a:cs typeface="Arial" pitchFamily="34" charset="-120"/>
              </a:rPr>
              <a:t>Дорожная карта </a:t>
            </a:r>
            <a:r>
              <a:rPr lang="en-US" sz="4600" b="1" dirty="0" err="1">
                <a:solidFill>
                  <a:srgbClr val="000000"/>
                </a:solidFill>
                <a:latin typeface="Arial" pitchFamily="34" charset="0"/>
                <a:ea typeface="Arial" pitchFamily="34" charset="-122"/>
                <a:cs typeface="Arial" pitchFamily="34" charset="-120"/>
              </a:rPr>
              <a:t>разработки</a:t>
            </a:r>
            <a:r>
              <a:rPr lang="en-US" sz="4600" b="1" dirty="0">
                <a:solidFill>
                  <a:srgbClr val="000000"/>
                </a:solidFill>
                <a:latin typeface="Arial" pitchFamily="34" charset="0"/>
                <a:ea typeface="Arial" pitchFamily="34" charset="-122"/>
                <a:cs typeface="Arial" pitchFamily="34" charset="-120"/>
              </a:rPr>
              <a:t> </a:t>
            </a:r>
          </a:p>
          <a:p>
            <a:pPr marL="0" indent="0" algn="l">
              <a:lnSpc>
                <a:spcPct val="120000"/>
              </a:lnSpc>
              <a:buNone/>
            </a:pPr>
            <a:r>
              <a:rPr lang="en-US" sz="4600" b="1" dirty="0">
                <a:solidFill>
                  <a:srgbClr val="000000"/>
                </a:solidFill>
                <a:latin typeface="Arial" pitchFamily="34" charset="0"/>
                <a:ea typeface="Arial" pitchFamily="34" charset="-122"/>
                <a:cs typeface="Arial" pitchFamily="34" charset="-120"/>
              </a:rPr>
              <a:t>и план развития
</a:t>
            </a:r>
            <a:r>
              <a:rPr lang="en-US" sz="3600" dirty="0">
                <a:solidFill>
                  <a:srgbClr val="000000"/>
                </a:solidFill>
                <a:latin typeface="Arial" pitchFamily="34" charset="0"/>
                <a:ea typeface="Arial" pitchFamily="34" charset="-122"/>
                <a:cs typeface="Arial" pitchFamily="34" charset="-120"/>
              </a:rPr>
              <a:t>
</a:t>
            </a:r>
            <a:r>
              <a:rPr lang="en-US" sz="2400" dirty="0">
                <a:solidFill>
                  <a:srgbClr val="000000"/>
                </a:solidFill>
                <a:latin typeface="Arial" pitchFamily="34" charset="0"/>
                <a:ea typeface="Arial" pitchFamily="34" charset="-122"/>
                <a:cs typeface="Arial" pitchFamily="34" charset="-120"/>
              </a:rPr>
              <a:t>Основные вехи включают расширение функционала и интеграцию с партнерами для охвата рынка.
</a:t>
            </a:r>
            <a:r>
              <a:rPr lang="en-US" sz="2600" dirty="0">
                <a:solidFill>
                  <a:srgbClr val="000000"/>
                </a:solidFill>
                <a:latin typeface="Arial" pitchFamily="34" charset="0"/>
                <a:ea typeface="Arial" pitchFamily="34" charset="-122"/>
                <a:cs typeface="Arial" pitchFamily="34" charset="-120"/>
              </a:rPr>
              <a:t>
</a:t>
            </a:r>
            <a:r>
              <a:rPr lang="en-US" sz="2400" dirty="0">
                <a:solidFill>
                  <a:srgbClr val="000000"/>
                </a:solidFill>
                <a:latin typeface="Arial" pitchFamily="34" charset="0"/>
                <a:ea typeface="Arial" pitchFamily="34" charset="-122"/>
                <a:cs typeface="Arial" pitchFamily="34" charset="-120"/>
              </a:rPr>
              <a:t>Планируемое развитие проекта обеспечит стабильный рост и повысит удобство использования для клиентов.
</a:t>
            </a:r>
            <a:endParaRPr lang="en-US" sz="4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pic>
        <p:nvPicPr>
          <p:cNvPr id="3" name="Image 1" descr="preencoded.png"/>
          <p:cNvPicPr>
            <a:picLocks noChangeAspect="1"/>
          </p:cNvPicPr>
          <p:nvPr/>
        </p:nvPicPr>
        <p:blipFill>
          <a:blip r:embed="rId4"/>
          <a:stretch>
            <a:fillRect/>
          </a:stretch>
        </p:blipFill>
        <p:spPr>
          <a:xfrm>
            <a:off x="0" y="0"/>
            <a:ext cx="18288000" cy="10287000"/>
          </a:xfrm>
          <a:prstGeom prst="rect">
            <a:avLst/>
          </a:prstGeom>
        </p:spPr>
      </p:pic>
      <p:sp>
        <p:nvSpPr>
          <p:cNvPr id="4" name="Text 0"/>
          <p:cNvSpPr txBox="1"/>
          <p:nvPr/>
        </p:nvSpPr>
        <p:spPr>
          <a:xfrm>
            <a:off x="1028675" y="2761375"/>
            <a:ext cx="12865200" cy="4745100"/>
          </a:xfrm>
          <a:prstGeom prst="rect">
            <a:avLst/>
          </a:prstGeom>
          <a:noFill/>
          <a:ln/>
        </p:spPr>
        <p:txBody>
          <a:bodyPr wrap="square" lIns="0" tIns="0" rIns="0" bIns="0" rtlCol="0" anchor="t"/>
          <a:lstStyle/>
          <a:p>
            <a:pPr marL="0" indent="0" algn="l">
              <a:lnSpc>
                <a:spcPct val="100000"/>
              </a:lnSpc>
              <a:buNone/>
            </a:pPr>
            <a:r>
              <a:rPr lang="en-US" sz="6000" b="1" dirty="0">
                <a:solidFill>
                  <a:srgbClr val="000000"/>
                </a:solidFill>
                <a:latin typeface="Arial" pitchFamily="34" charset="0"/>
                <a:ea typeface="Arial" pitchFamily="34" charset="-122"/>
                <a:cs typeface="Arial" pitchFamily="34" charset="-120"/>
              </a:rPr>
              <a:t>Заключение и значимость проекта
</a:t>
            </a:r>
            <a:r>
              <a:rPr lang="en-US" sz="2500" dirty="0">
                <a:solidFill>
                  <a:srgbClr val="1C3354"/>
                </a:solidFill>
                <a:latin typeface="Arial" pitchFamily="34" charset="0"/>
                <a:ea typeface="Arial" pitchFamily="34" charset="-122"/>
                <a:cs typeface="Arial" pitchFamily="34" charset="-120"/>
              </a:rPr>
              <a:t>Проверенная технология с успешным MVP подходит для растущего рынка EdTech, способствует качеству образования и развитию IT-сектора.
</a:t>
            </a:r>
            <a:endParaRPr lang="en-US" sz="6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7619</TotalTime>
  <Words>2654</Words>
  <Application>Microsoft Office PowerPoint</Application>
  <PresentationFormat>Произвольный</PresentationFormat>
  <Paragraphs>169</Paragraphs>
  <Slides>18</Slides>
  <Notes>18</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18</vt:i4>
      </vt:variant>
    </vt:vector>
  </HeadingPairs>
  <TitlesOfParts>
    <vt:vector size="23" baseType="lpstr">
      <vt:lpstr>Arial</vt:lpstr>
      <vt:lpstr>Calibri</vt:lpstr>
      <vt:lpstr>Fira Sans</vt:lpstr>
      <vt:lpstr>Segoe WPC</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Дмитрий Азаров</cp:lastModifiedBy>
  <cp:revision>25</cp:revision>
  <dcterms:created xsi:type="dcterms:W3CDTF">2025-11-11T09:48:55Z</dcterms:created>
  <dcterms:modified xsi:type="dcterms:W3CDTF">2025-11-19T08:30:40Z</dcterms:modified>
</cp:coreProperties>
</file>